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783918500e4011" /><Relationship Type="http://schemas.openxmlformats.org/officeDocument/2006/relationships/extended-properties" Target="/docProps/app.xml" Id="R9a045eb1db454e8c" /><Relationship Type="http://schemas.openxmlformats.org/officeDocument/2006/relationships/officeDocument" Target="/ppt/presentation.xml" Id="Ra0ca01439f4e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a55f517a1f49f0"/>
  </p:sldMasterIdLst>
  <p:notesMasterIdLst>
    <p:notesMasterId xmlns:r="http://schemas.openxmlformats.org/officeDocument/2006/relationships" r:id="R343db79782084142"/>
  </p:notesMasterIdLst>
  <p:sldIdLst>
    <p:sldId xmlns:r="http://schemas.openxmlformats.org/officeDocument/2006/relationships" id="256" r:id="R358694be25814dab"/>
    <p:sldId xmlns:r="http://schemas.openxmlformats.org/officeDocument/2006/relationships" id="257" r:id="Rf5abd9b77ee14540"/>
    <p:sldId xmlns:r="http://schemas.openxmlformats.org/officeDocument/2006/relationships" id="258" r:id="R875a4097cb9144e9"/>
    <p:sldId xmlns:r="http://schemas.openxmlformats.org/officeDocument/2006/relationships" id="259" r:id="Rd4766bfb16c240a8"/>
    <p:sldId xmlns:r="http://schemas.openxmlformats.org/officeDocument/2006/relationships" id="260" r:id="R8c411c71944a4147"/>
    <p:sldId xmlns:r="http://schemas.openxmlformats.org/officeDocument/2006/relationships" id="261" r:id="Rdbbc3ccd6b7148b2"/>
    <p:sldId xmlns:r="http://schemas.openxmlformats.org/officeDocument/2006/relationships" id="262" r:id="R747280b3bdc44468"/>
    <p:sldId xmlns:r="http://schemas.openxmlformats.org/officeDocument/2006/relationships" id="263" r:id="Rb82a0336ac144cda"/>
    <p:sldId xmlns:r="http://schemas.openxmlformats.org/officeDocument/2006/relationships" id="264" r:id="R9ac339381d774349"/>
    <p:sldId xmlns:r="http://schemas.openxmlformats.org/officeDocument/2006/relationships" id="265" r:id="R66329300bbaf4cab"/>
    <p:sldId xmlns:r="http://schemas.openxmlformats.org/officeDocument/2006/relationships" id="266" r:id="R832b778ec5cd4f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2d43ab3ed64d60" /><Relationship Type="http://schemas.openxmlformats.org/officeDocument/2006/relationships/slideMaster" Target="/ppt/slideMasters/slideMaster1.xml" Id="Raca55f517a1f49f0" /><Relationship Type="http://schemas.openxmlformats.org/officeDocument/2006/relationships/notesMaster" Target="/ppt/notesMasters/notesMaster1.xml" Id="R343db79782084142" /><Relationship Type="http://schemas.openxmlformats.org/officeDocument/2006/relationships/presProps" Target="/ppt/presProps.xml" Id="Rc124976763a84466" /><Relationship Type="http://schemas.openxmlformats.org/officeDocument/2006/relationships/tableStyles" Target="/ppt/tableStyles.xml" Id="R2f70d59edbbe4799" /><Relationship Type="http://schemas.openxmlformats.org/officeDocument/2006/relationships/slide" Target="/ppt/slides/slide1.xml" Id="R358694be25814dab" /><Relationship Type="http://schemas.openxmlformats.org/officeDocument/2006/relationships/slide" Target="/ppt/slides/slide2.xml" Id="Rf5abd9b77ee14540" /><Relationship Type="http://schemas.openxmlformats.org/officeDocument/2006/relationships/slide" Target="/ppt/slides/slide3.xml" Id="R875a4097cb9144e9" /><Relationship Type="http://schemas.openxmlformats.org/officeDocument/2006/relationships/slide" Target="/ppt/slides/slide4.xml" Id="Rd4766bfb16c240a8" /><Relationship Type="http://schemas.openxmlformats.org/officeDocument/2006/relationships/slide" Target="/ppt/slides/slide5.xml" Id="R8c411c71944a4147" /><Relationship Type="http://schemas.openxmlformats.org/officeDocument/2006/relationships/slide" Target="/ppt/slides/slide6.xml" Id="Rdbbc3ccd6b7148b2" /><Relationship Type="http://schemas.openxmlformats.org/officeDocument/2006/relationships/slide" Target="/ppt/slides/slide7.xml" Id="R747280b3bdc44468" /><Relationship Type="http://schemas.openxmlformats.org/officeDocument/2006/relationships/slide" Target="/ppt/slides/slide8.xml" Id="Rb82a0336ac144cda" /><Relationship Type="http://schemas.openxmlformats.org/officeDocument/2006/relationships/slide" Target="/ppt/slides/slide9.xml" Id="R9ac339381d774349" /><Relationship Type="http://schemas.openxmlformats.org/officeDocument/2006/relationships/slide" Target="/ppt/slides/slide10.xml" Id="R66329300bbaf4cab" /><Relationship Type="http://schemas.openxmlformats.org/officeDocument/2006/relationships/slide" Target="/ppt/slides/slide11.xml" Id="R832b778ec5cd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075993ff9948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21e4da24948ba" /><Relationship Type="http://schemas.openxmlformats.org/officeDocument/2006/relationships/notesMaster" Target="/ppt/notesMasters/notesMaster1.xml" Id="Rb56a563a3b7d46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c5c9439c5a415a" /><Relationship Type="http://schemas.openxmlformats.org/officeDocument/2006/relationships/notesMaster" Target="/ppt/notesMasters/notesMaster1.xml" Id="R60426f65bf3643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3ce4f4543c42d2" /><Relationship Type="http://schemas.openxmlformats.org/officeDocument/2006/relationships/notesMaster" Target="/ppt/notesMasters/notesMaster1.xml" Id="R4961e6ce2b3141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bfd2bbb1094dec" /><Relationship Type="http://schemas.openxmlformats.org/officeDocument/2006/relationships/notesMaster" Target="/ppt/notesMasters/notesMaster1.xml" Id="R595517e131eb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d24f3b374f4380" /><Relationship Type="http://schemas.openxmlformats.org/officeDocument/2006/relationships/notesMaster" Target="/ppt/notesMasters/notesMaster1.xml" Id="R16234bf9041244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ac3d4dd614d5a" /><Relationship Type="http://schemas.openxmlformats.org/officeDocument/2006/relationships/notesMaster" Target="/ppt/notesMasters/notesMaster1.xml" Id="Rba5772f23a9a40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5646323f8419a" /><Relationship Type="http://schemas.openxmlformats.org/officeDocument/2006/relationships/notesMaster" Target="/ppt/notesMasters/notesMaster1.xml" Id="R40a95cbea8f244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8d0fc5cdb47df" /><Relationship Type="http://schemas.openxmlformats.org/officeDocument/2006/relationships/notesMaster" Target="/ppt/notesMasters/notesMaster1.xml" Id="Raf8ad0edabc34c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c0de43f18444f0" /><Relationship Type="http://schemas.openxmlformats.org/officeDocument/2006/relationships/notesMaster" Target="/ppt/notesMasters/notesMaster1.xml" Id="R7fda493b18de4f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9b9cec38514ff6" /><Relationship Type="http://schemas.openxmlformats.org/officeDocument/2006/relationships/notesMaster" Target="/ppt/notesMasters/notesMaster1.xml" Id="R922c5d49c7b5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0f09c935e341f7" /><Relationship Type="http://schemas.openxmlformats.org/officeDocument/2006/relationships/notesMaster" Target="/ppt/notesMasters/notesMaster1.xml" Id="R4be61c089b2a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Contains modified Copernicus Sentinel data (2026). Exact scene S2C_39RWJ_20260930_0_L2A. Analyst-defined window, not an official district boundary. This deck is a review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https://www.usgs.gov/landsat-missions/landsat-collection-2-surface-temperature ; https://science.nasa.gov/mission/landsat-9/ ; https://doi.org/10.5281/zenodo.7254220 ; https://www.openstreetmap.org/copyright . Exact scene metadata and licences are packaged.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implemented in src/coastal_multidate.py, src/planning.py and src/export_map.py. WorldCover uses CatBoost upstream; this PoC does not run its own AI segmentation.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results generated from packaged Landsat crops. USGS method: DN × 0.00341802 +149 −273.15. Two accepted September morning dates do not establish a trend or causal cooling.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results from OSM contributed building geometry and ESA WorldCover 2021. Score is a within-pilot heuristic: 50% heat rank, 30% inverse green-signal rank, 20% mapped-building rank. Not a calibrated risk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are actual outputs in results/planning-cells.csv. Rank ranges are across eleven selected scenarios and are not probabilistic confidence intervals. Mapped building fractions may omit unmapped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Checks in results/reference-samples.csv, using contributed OSM reference geometry. Thirty coastline right-side points are spaced at least 100 m and offset 60 m offshore, with at least 40 m distance to mapped coastline. Limited positive checks are not a representative accuracy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Intended use, not measured impact. USGS caveats: historical ASTER emissivity, vegetation-adjustment anomaly, small-target blockiness and cloud effects. ST_QA does not capture all systematic bias. No field or heat-health validation has been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Required submission guide snapshot: hackathon-snapshot/07-submission-guide.txt. Dashboard session expired on 4 October, so current eligibility/deadline not verified. All team member identities/roles and accessible GitHub repository must be confirmed. Normal Jupyter kernel cannot start in this sandbox; clean Python cell execution is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 and licences. Exact source metadata, full citations, derived-database licences and processing parameters are included in the README and DATA-LICENSES.md.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581937da474c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1df0649c5147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6ddad829044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e4e5ae55640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0ec373b26437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03729c6454b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6FD35ED-D662-4DD1-B078-69B13EF2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B5FC840-2A19-4DEE-84B7-43DACEE89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0C9AAD9-FCD4-43FA-BD87-91059F2B96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8C4B7F4-2EC7-4464-89EB-37AC91EC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F43D458-5C33-4C44-890E-0C566D2EB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4D76F02-0CAB-4B10-AEC7-B3D41C2E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871CCA-6D08-4945-96CA-4E8A6F086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7CCCAA8-903F-4575-AA4F-1D6C223683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D07CA0-4199-4886-B876-4E052855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F2E737-E88D-4E13-96CA-7A21ACF11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E710D3-7CB2-4C65-AAF4-3F8ABBC5DC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4851C1-89FC-4C81-BAE0-B19886AF4D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D580967-E2A1-4DF8-846D-909BA148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F29CE48-8573-4AFD-A960-5E9BA05CD4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66C832-EA87-4BC7-B768-1A379619C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a65c71d1f94694" /><Relationship Type="http://schemas.openxmlformats.org/officeDocument/2006/relationships/slideLayout" Target="/ppt/slideLayouts/slideLayout1.xml" Id="R32c038cce091479b" /><Relationship Type="http://schemas.openxmlformats.org/officeDocument/2006/relationships/slideLayout" Target="/ppt/slideLayouts/slideLayout2.xml" Id="R69d9e1192d1f4501" /><Relationship Type="http://schemas.openxmlformats.org/officeDocument/2006/relationships/slideLayout" Target="/ppt/slideLayouts/slideLayout3.xml" Id="R0a1f4190e2f247d2" /><Relationship Type="http://schemas.openxmlformats.org/officeDocument/2006/relationships/slideLayout" Target="/ppt/slideLayouts/slideLayout4.xml" Id="R6a806b16937b4bfe" /><Relationship Type="http://schemas.openxmlformats.org/officeDocument/2006/relationships/slideLayout" Target="/ppt/slideLayouts/slideLayout5.xml" Id="Ra8e38e3aec984dea" /><Relationship Type="http://schemas.openxmlformats.org/officeDocument/2006/relationships/slideLayout" Target="/ppt/slideLayouts/slideLayout6.xml" Id="Ra5975781161c45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038cce091479b"/>
    <p:sldLayoutId xmlns:r="http://schemas.openxmlformats.org/officeDocument/2006/relationships" id="2147483650" r:id="R69d9e1192d1f4501"/>
    <p:sldLayoutId xmlns:r="http://schemas.openxmlformats.org/officeDocument/2006/relationships" id="2147483651" r:id="R0a1f4190e2f247d2"/>
    <p:sldLayoutId xmlns:r="http://schemas.openxmlformats.org/officeDocument/2006/relationships" id="2147483652" r:id="R6a806b16937b4bfe"/>
    <p:sldLayoutId xmlns:r="http://schemas.openxmlformats.org/officeDocument/2006/relationships" id="2147483653" r:id="Ra8e38e3aec984dea"/>
    <p:sldLayoutId xmlns:r="http://schemas.openxmlformats.org/officeDocument/2006/relationships" id="2147483654" r:id="Ra5975781161c45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c8aa457464f9f" /><Relationship Type="http://schemas.openxmlformats.org/officeDocument/2006/relationships/image" Target="/ppt/media/image.jpeg" Id="R4f00239c368d4959" /><Relationship Type="http://schemas.openxmlformats.org/officeDocument/2006/relationships/notesSlide" Target="/ppt/notesSlides/notesSlide1.xml" Id="R35b3b3557ec644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edd6c25414ce5" /><Relationship Type="http://schemas.openxmlformats.org/officeDocument/2006/relationships/notesSlide" Target="/ppt/notesSlides/notesSlide2.xml" Id="R0f5e2bbb497a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f1df01e544a06" /><Relationship Type="http://schemas.openxmlformats.org/officeDocument/2006/relationships/notesSlide" Target="/ppt/notesSlides/notesSlide3.xml" Id="R40511638daa344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63a67d2dc42ca" /><Relationship Type="http://schemas.openxmlformats.org/officeDocument/2006/relationships/notesSlide" Target="/ppt/notesSlides/notesSlide4.xml" Id="R35019958dbc44e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b857cf3c649f8" /><Relationship Type="http://schemas.openxmlformats.org/officeDocument/2006/relationships/image" Target="/ppt/media/image.png" Id="Rb83b7d5a20754e57" /><Relationship Type="http://schemas.openxmlformats.org/officeDocument/2006/relationships/notesSlide" Target="/ppt/notesSlides/notesSlide5.xml" Id="R2300f1ed8fd441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172e69eb84a49" /><Relationship Type="http://schemas.openxmlformats.org/officeDocument/2006/relationships/image" Target="/ppt/media/image2.png" Id="Rd5815cce60b34acd" /><Relationship Type="http://schemas.openxmlformats.org/officeDocument/2006/relationships/notesSlide" Target="/ppt/notesSlides/notesSlide6.xml" Id="R21af331ed07a44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55d3e6a9b4f6e" /><Relationship Type="http://schemas.openxmlformats.org/officeDocument/2006/relationships/notesSlide" Target="/ppt/notesSlides/notesSlide7.xml" Id="R93f244f2b4d64b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02a42a4624504" /><Relationship Type="http://schemas.openxmlformats.org/officeDocument/2006/relationships/notesSlide" Target="/ppt/notesSlides/notesSlide8.xml" Id="Re0381e9b7eae49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fcc70d13043b8" /><Relationship Type="http://schemas.openxmlformats.org/officeDocument/2006/relationships/notesSlide" Target="/ppt/notesSlides/notesSlide9.xml" Id="R9b53f4a7646147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a89c3a4a34336" /><Relationship Type="http://schemas.openxmlformats.org/officeDocument/2006/relationships/notesSlide" Target="/ppt/notesSlides/notesSlide10.xml" Id="R51c720a8ce2d4c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f7b4e5a867473a" /><Relationship Type="http://schemas.openxmlformats.org/officeDocument/2006/relationships/notesSlide" Target="/ppt/notesSlides/notesSlide11.xml" Id="Re38455dd918c4d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52BF7-6A1C-4F2D-B5AA-DC04AD2A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238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UrbanHeat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D3131-BD7B-43B8-BEB7-BA4BCBFE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71DAC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0">
                <a:solidFill>
                  <a:srgbClr val="71DACA"/>
                </a:solidFill>
                <a:latin typeface="Bitstream Charter"/>
                <a:ea typeface="Bitstream Charter"/>
                <a:cs typeface="Bitstream Charter"/>
              </a:rPr>
              <a:t>The Pearl planning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4F5A-52D8-42AB-8C98-F6FC6695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6048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Al Zubarah · Qatar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Urban Expansion, Land Use Change &amp; Heat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789E4-015C-4CAB-9213-4FF0D19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D4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2D4DF"/>
                </a:solidFill>
                <a:latin typeface="Bitstream Charter"/>
                <a:ea typeface="Bitstream Charter"/>
                <a:cs typeface="Bitstream Charter"/>
              </a:rPr>
              <a:t>Open-data PoC · October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0239c368d4959"/>
          <a:stretch xmlns:a="http://schemas.openxmlformats.org/drawingml/2006/main"/>
        </p:blipFill>
        <p:spPr>
          <a:xfrm xmlns:a="http://schemas.openxmlformats.org/drawingml/2006/main">
            <a:off x="7334250" y="995753"/>
            <a:ext cx="4191000" cy="48093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919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C191C-2BF9-4ED6-8EA0-AD0FA6FB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planning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D26AB-1FD1-4754-B6BF-19BD1CE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1F76D-E57C-43B2-B6EA-C18BACE2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CFAF2-B6A7-48C9-937A-21FA6030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Urban planners need a spatial starting point for heat-mitigation site visits.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70C1F-8B82-43E0-B855-28FF36EA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Our pilot screens a small part of The Pearl using repeatable satellite observations and mapped urban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9A690-E987-4CAB-B616-4B4F1E96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decision: where should a planner inspect pedestrian use, existing shade and planting feasibility first?</a:t>
            </a:r>
          </a:p>
        </p:txBody>
      </p:sp>
    </p:spTree>
    <p:extLst>
      <p:ext uri="{BB962C8B-B14F-4D97-AF65-F5344CB8AC3E}">
        <p14:creationId xmlns:p14="http://schemas.microsoft.com/office/powerpoint/2010/main" val="1503161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4D686-5045-4BF1-B9DC-64B6460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Data and implemented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0BAE7-DD56-4D8F-930B-D99BD312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DE498-4DBF-425B-83DB-CAA29194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857500"/>
                <a:gridCol w="4638675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Used for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Sentinel-2 L2A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5, 15, 30 Sep 2026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Green signal and optical quality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Landsat 8/9 L2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6, 14, 30 Sep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Surface temperature and 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ESA WorldCover v200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2021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Historical ML-derived land cover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OpenStreetMap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Downloaded 4 Oct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Mapped buildings and references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45673-2A71-4C9F-A9CD-DA09315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Open data. No VHR, 813 or hyperspectral imagery. We use a precomputed ML product and contributed geometry.</a:t>
            </a:r>
          </a:p>
        </p:txBody>
      </p:sp>
    </p:spTree>
    <p:extLst>
      <p:ext uri="{BB962C8B-B14F-4D97-AF65-F5344CB8AC3E}">
        <p14:creationId xmlns:p14="http://schemas.microsoft.com/office/powerpoint/2010/main" val="221937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104C4-0A32-46AE-A950-800B2875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6E4AC-2BD7-4C43-82D9-0182CE8E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40EC0-4E1D-43B3-801E-BA6A3EE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39B95-6C36-4C56-A59F-A4A18F39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9D7A2-6B4B-477E-ABDE-F9D1172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Source crops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D093E-77C8-4085-B5B7-C45BB059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Exact scenes and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reference snapshots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165F6-8A74-43F6-BB04-AB3CAF2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575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3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9B4D3-C942-4B55-81C9-05CCC8FE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96E6A-BF09-4114-B00C-34F66C35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Quality screening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9157E-B81E-4E7C-B4D9-DC5517A5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Water, coast, crop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edges and thermal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231F1-5421-43BB-999B-1D40487A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575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3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47C30-AD53-498F-809D-BC2667B0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7B85D-36C7-4892-8F26-CD9CA704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Matched cells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D8509-0559-4BC9-8EB6-E39A3945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Same inland footprint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on accepted 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C67B8-63A7-466A-8CB2-EA2D0C43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3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3C95D-CB8F-4457-952A-889A1898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3F56F-A7D9-4F23-B40E-53CD56B3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Planning shortlist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FE8AE-A8D7-4EB8-AC8C-03C9658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Explainable score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and sensitivity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97B48-28F8-44AC-9E93-66FA7BD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Thermal detail: about 100 m. Reporting cells: 300 m. Retained delivered pixels: 30 m and spatially dependent.</a:t>
            </a:r>
          </a:p>
        </p:txBody>
      </p:sp>
    </p:spTree>
    <p:extLst>
      <p:ext uri="{BB962C8B-B14F-4D97-AF65-F5344CB8AC3E}">
        <p14:creationId xmlns:p14="http://schemas.microsoft.com/office/powerpoint/2010/main" val="3599409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F81A2-57C4-485F-B3C9-190729E0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Accepted surface-temperature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1FFE4-EA5F-4955-8BB6-33519CBB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C36D6-0649-425B-83B6-9937EC35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b7d5a20754e57"/>
          <a:stretch xmlns:a="http://schemas.openxmlformats.org/drawingml/2006/main"/>
        </p:blipFill>
        <p:spPr>
          <a:xfrm xmlns:a="http://schemas.openxmlformats.org/drawingml/2006/main">
            <a:off x="1073150" y="1323975"/>
            <a:ext cx="10045700" cy="430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A6EE1-C30C-478F-ACB7-4D7AD0EE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1.15 km² retained on the same footprints. Surface temperature is distinct from air temperature and human heat exposure.</a:t>
            </a:r>
          </a:p>
        </p:txBody>
      </p:sp>
    </p:spTree>
    <p:extLst>
      <p:ext uri="{BB962C8B-B14F-4D97-AF65-F5344CB8AC3E}">
        <p14:creationId xmlns:p14="http://schemas.microsoft.com/office/powerpoint/2010/main" val="738038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07870-99A1-4EED-BFC0-2CA8E800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Land cover and investigation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C9A7F-A501-4391-8EDF-0E01CD8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D49DD-3A99-493A-9B7E-021E35A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15cce60b34acd"/>
          <a:stretch xmlns:a="http://schemas.openxmlformats.org/drawingml/2006/main"/>
        </p:blipFill>
        <p:spPr>
          <a:xfrm xmlns:a="http://schemas.openxmlformats.org/drawingml/2006/main">
            <a:off x="678656" y="1381125"/>
            <a:ext cx="10834688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A7E89-7AB5-4639-BA88-95DE010D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Historical land cover and contributed footprints provide context for site inspection.</a:t>
            </a:r>
          </a:p>
        </p:txBody>
      </p:sp>
    </p:spTree>
    <p:extLst>
      <p:ext uri="{BB962C8B-B14F-4D97-AF65-F5344CB8AC3E}">
        <p14:creationId xmlns:p14="http://schemas.microsoft.com/office/powerpoint/2010/main" val="1649027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60C68-EB2C-4BAC-BC24-AE4C698C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Shortlist and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AA5F2-8E9D-4B67-806B-BBD9B355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55E05-BDC5-4748-BDF3-E0BB3169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8350"/>
                <a:gridCol w="2228850"/>
                <a:gridCol w="2000250"/>
                <a:gridCol w="2457450"/>
                <a:gridCol w="22479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Cell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Surface °C*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Green %*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Buildings %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Rank range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V02-05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45.2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34.9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V04-04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44.9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2–3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V04-03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44.2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30.3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2–6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7CFBF-BB5A-4FDF-9A81-C1C0C878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first two candidates remain near the top across all 11 tested settings. The third is less 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CE634-272C-4F66-8C23-EA5BDC2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*Averages of the two date-level cell summaries. Coverage is partial and reported per cell. No cooling benefit is estimated.</a:t>
            </a:r>
          </a:p>
        </p:txBody>
      </p:sp>
    </p:spTree>
    <p:extLst>
      <p:ext uri="{BB962C8B-B14F-4D97-AF65-F5344CB8AC3E}">
        <p14:creationId xmlns:p14="http://schemas.microsoft.com/office/powerpoint/2010/main" val="366868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75E03-CE29-490E-80C3-0F2B002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Reference checks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F2D5F-F0A2-4A73-AC76-4C2357E0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6B8C-242D-4105-BFEF-DAA8FA35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6CC0A-2C42-47DC-BB54-FF2FA320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30 / 30 coastal-water points agree with the water screen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516F2-0DDD-45A9-92ED-FB93379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76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Small water features: all 3 sampled interiors are missed.</a:t>
            </a:r>
          </a:p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Grass: no interiors survive the reference erosion.</a:t>
            </a:r>
          </a:p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Buildings: 1 of 30 sampled interiors passes the green threshold.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AAA59-0DE8-446E-BF99-B343FD30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Human reference confirmation and independent thermal calibration remain pending. These checks cannot certify overall accuracy.</a:t>
            </a:r>
          </a:p>
        </p:txBody>
      </p:sp>
    </p:spTree>
    <p:extLst>
      <p:ext uri="{BB962C8B-B14F-4D97-AF65-F5344CB8AC3E}">
        <p14:creationId xmlns:p14="http://schemas.microsoft.com/office/powerpoint/2010/main" val="987735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AA165-A613-41A2-B340-B57F6118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Impact and decision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D068F-9531-42A2-BD0D-99A5A560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0F399-EA2A-4364-B96F-E1868B19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CAADF-9F9F-4559-A0FB-465F84BB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output helps organise targeted site visits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B2288-3317-4D5C-8AAE-8B34E33C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 planner can inspect the shortlist, its contributing indicators, coverage and sensitivity before choosing local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1C294-DDFF-4ED4-93B3-87F7D003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No measured savings, intervention benefit, heat-health risk, rural-reference UHI intensity or long-term warming trend is claimed.</a:t>
            </a:r>
          </a:p>
        </p:txBody>
      </p:sp>
    </p:spTree>
    <p:extLst>
      <p:ext uri="{BB962C8B-B14F-4D97-AF65-F5344CB8AC3E}">
        <p14:creationId xmlns:p14="http://schemas.microsoft.com/office/powerpoint/2010/main" val="1118412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7A6F1-A4EA-4B63-8A70-3B2DC2B5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Next steps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9677-3620-4B67-89D8-DC74734E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C55B8-6C93-415F-9A01-C8E89530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E21AF-7664-4088-A716-545432A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Next scientific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7E5E5-AB85-4C58-A6A3-7CD84CC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287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Confirm reference samples with a human reviewer. Add suitable VHR segmentation and paving/shade indicators when the data support them. Validate thermal observations independently.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E1D7A-8CF3-4496-BFDF-741ED3BC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Before submitting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915F6-9D6D-4B2C-B427-95BC0023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287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Run the notebook in normal Jupyter on another machine. Confirm member names and roles, GitHub access and the current deadline. Submit the form with this PDF after team review.</a:t>
            </a:r>
          </a:p>
        </p:txBody>
      </p:sp>
    </p:spTree>
    <p:extLst>
      <p:ext uri="{BB962C8B-B14F-4D97-AF65-F5344CB8AC3E}">
        <p14:creationId xmlns:p14="http://schemas.microsoft.com/office/powerpoint/2010/main" val="12892872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860F0-01EC-4E7E-8E85-B53D6DA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Sources and licences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60723-75CB-42B7-BFB6-4E760DD0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45DD9-5481-40F8-AE72-18175A6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3134C-CE27-410E-A882-30B9B1E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Contains modified Copernicus Sentinel data (2026)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Copernicus Sentinel terms. Exact scene records are in the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D8EEA-77EC-4808-AB60-E0A56609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Landsat imagery courtesy of the U.S. Geological Survey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Landsat 8–9 Collection 2 L2. doi.org/10.5066/P9OGBGM6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D68854-9F7B-4174-993C-77BACB97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ESA WorldCover 2021 v200, Zanaga et al. (2022)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CC BY 4.0. doi.org/10.5281/zenodo.7254220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51D13-F09E-45CB-88D2-B038B639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© OpenStreetMap contributors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ODbL 1.0. openstreetmap.org/copyright</a:t>
            </a:r>
          </a:p>
        </p:txBody>
      </p:sp>
    </p:spTree>
    <p:extLst>
      <p:ext uri="{BB962C8B-B14F-4D97-AF65-F5344CB8AC3E}">
        <p14:creationId xmlns:p14="http://schemas.microsoft.com/office/powerpoint/2010/main" val="801059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2026-10-04T15:16:20.1940000Z</dcterms:created>
  <dcterms:modified xsi:type="dcterms:W3CDTF">2026-10-04T15:16:20.1940000Z</dcterms:modified>
</coreProperties>
</file>