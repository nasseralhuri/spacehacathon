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c3ebd3246b4c80" /><Relationship Type="http://schemas.openxmlformats.org/officeDocument/2006/relationships/extended-properties" Target="/docProps/app.xml" Id="Rb37da60e045440e4" /><Relationship Type="http://schemas.openxmlformats.org/officeDocument/2006/relationships/officeDocument" Target="/ppt/presentation.xml" Id="R4fa8dfb1383e42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d0d80580e640b6"/>
  </p:sldMasterIdLst>
  <p:notesMasterIdLst>
    <p:notesMasterId xmlns:r="http://schemas.openxmlformats.org/officeDocument/2006/relationships" r:id="R0d8c08a515284eb8"/>
  </p:notesMasterIdLst>
  <p:sldIdLst>
    <p:sldId xmlns:r="http://schemas.openxmlformats.org/officeDocument/2006/relationships" id="256" r:id="Re640e95ffcf04b4c"/>
    <p:sldId xmlns:r="http://schemas.openxmlformats.org/officeDocument/2006/relationships" id="257" r:id="Rb87fa882ff5747a6"/>
    <p:sldId xmlns:r="http://schemas.openxmlformats.org/officeDocument/2006/relationships" id="258" r:id="R53e151bc53ad4ccc"/>
    <p:sldId xmlns:r="http://schemas.openxmlformats.org/officeDocument/2006/relationships" id="259" r:id="R542919b0ad434e62"/>
    <p:sldId xmlns:r="http://schemas.openxmlformats.org/officeDocument/2006/relationships" id="260" r:id="R1da5ba5c54d54493"/>
    <p:sldId xmlns:r="http://schemas.openxmlformats.org/officeDocument/2006/relationships" id="261" r:id="R58d0b1ca7f734085"/>
    <p:sldId xmlns:r="http://schemas.openxmlformats.org/officeDocument/2006/relationships" id="262" r:id="R0ba1b813197447b3"/>
    <p:sldId xmlns:r="http://schemas.openxmlformats.org/officeDocument/2006/relationships" id="263" r:id="Rc41429dd6dac4417"/>
    <p:sldId xmlns:r="http://schemas.openxmlformats.org/officeDocument/2006/relationships" id="264" r:id="R33a927506f55438d"/>
    <p:sldId xmlns:r="http://schemas.openxmlformats.org/officeDocument/2006/relationships" id="265" r:id="R7831d4034a8f4cc3"/>
    <p:sldId xmlns:r="http://schemas.openxmlformats.org/officeDocument/2006/relationships" id="266" r:id="R703036ba3a194e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fc7cf50084ded" /><Relationship Type="http://schemas.openxmlformats.org/officeDocument/2006/relationships/slideMaster" Target="/ppt/slideMasters/slideMaster1.xml" Id="R5fd0d80580e640b6" /><Relationship Type="http://schemas.openxmlformats.org/officeDocument/2006/relationships/notesMaster" Target="/ppt/notesMasters/notesMaster1.xml" Id="R0d8c08a515284eb8" /><Relationship Type="http://schemas.openxmlformats.org/officeDocument/2006/relationships/presProps" Target="/ppt/presProps.xml" Id="R7476966cf338434f" /><Relationship Type="http://schemas.openxmlformats.org/officeDocument/2006/relationships/tableStyles" Target="/ppt/tableStyles.xml" Id="Ra9770e2431b24599" /><Relationship Type="http://schemas.openxmlformats.org/officeDocument/2006/relationships/slide" Target="/ppt/slides/slide1.xml" Id="Re640e95ffcf04b4c" /><Relationship Type="http://schemas.openxmlformats.org/officeDocument/2006/relationships/slide" Target="/ppt/slides/slide2.xml" Id="Rb87fa882ff5747a6" /><Relationship Type="http://schemas.openxmlformats.org/officeDocument/2006/relationships/slide" Target="/ppt/slides/slide3.xml" Id="R53e151bc53ad4ccc" /><Relationship Type="http://schemas.openxmlformats.org/officeDocument/2006/relationships/slide" Target="/ppt/slides/slide4.xml" Id="R542919b0ad434e62" /><Relationship Type="http://schemas.openxmlformats.org/officeDocument/2006/relationships/slide" Target="/ppt/slides/slide5.xml" Id="R1da5ba5c54d54493" /><Relationship Type="http://schemas.openxmlformats.org/officeDocument/2006/relationships/slide" Target="/ppt/slides/slide6.xml" Id="R58d0b1ca7f734085" /><Relationship Type="http://schemas.openxmlformats.org/officeDocument/2006/relationships/slide" Target="/ppt/slides/slide7.xml" Id="R0ba1b813197447b3" /><Relationship Type="http://schemas.openxmlformats.org/officeDocument/2006/relationships/slide" Target="/ppt/slides/slide8.xml" Id="Rc41429dd6dac4417" /><Relationship Type="http://schemas.openxmlformats.org/officeDocument/2006/relationships/slide" Target="/ppt/slides/slide9.xml" Id="R33a927506f55438d" /><Relationship Type="http://schemas.openxmlformats.org/officeDocument/2006/relationships/slide" Target="/ppt/slides/slide10.xml" Id="R7831d4034a8f4cc3" /><Relationship Type="http://schemas.openxmlformats.org/officeDocument/2006/relationships/slide" Target="/ppt/slides/slide11.xml" Id="R703036ba3a19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d4cd78ccc144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e142a4a09e4943" /><Relationship Type="http://schemas.openxmlformats.org/officeDocument/2006/relationships/notesMaster" Target="/ppt/notesMasters/notesMaster1.xml" Id="Rc4770addeafc41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5b2ee47eef4741" /><Relationship Type="http://schemas.openxmlformats.org/officeDocument/2006/relationships/notesMaster" Target="/ppt/notesMasters/notesMaster1.xml" Id="R4c8fdfe148f748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a85e58b94c4e46" /><Relationship Type="http://schemas.openxmlformats.org/officeDocument/2006/relationships/notesMaster" Target="/ppt/notesMasters/notesMaster1.xml" Id="R7f0776f08cef49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62868f95bb48ce" /><Relationship Type="http://schemas.openxmlformats.org/officeDocument/2006/relationships/notesMaster" Target="/ppt/notesMasters/notesMaster1.xml" Id="R93c0252dd49b47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d741b61a634e4d" /><Relationship Type="http://schemas.openxmlformats.org/officeDocument/2006/relationships/notesMaster" Target="/ppt/notesMasters/notesMaster1.xml" Id="R2afadf17e74740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262548969a478e" /><Relationship Type="http://schemas.openxmlformats.org/officeDocument/2006/relationships/notesMaster" Target="/ppt/notesMasters/notesMaster1.xml" Id="R9ce8f064b6a841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78ea6be2b54143" /><Relationship Type="http://schemas.openxmlformats.org/officeDocument/2006/relationships/notesMaster" Target="/ppt/notesMasters/notesMaster1.xml" Id="R3c71bb8127fa4f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9a86c069254ec6" /><Relationship Type="http://schemas.openxmlformats.org/officeDocument/2006/relationships/notesMaster" Target="/ppt/notesMasters/notesMaster1.xml" Id="R83b5464bb56345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a291cbe8894675" /><Relationship Type="http://schemas.openxmlformats.org/officeDocument/2006/relationships/notesMaster" Target="/ppt/notesMasters/notesMaster1.xml" Id="R8fb468aea7d24e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ba013d4c964b6f" /><Relationship Type="http://schemas.openxmlformats.org/officeDocument/2006/relationships/notesMaster" Target="/ppt/notesMasters/notesMaster1.xml" Id="R36fc6abafc3048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ced0dc7aa14a8c" /><Relationship Type="http://schemas.openxmlformats.org/officeDocument/2006/relationships/notesMaster" Target="/ppt/notesMasters/notesMaster1.xml" Id="Rc87fd0d5bdcb47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Contains modified Copernicus Sentinel data (2026). Exact scene S2C_39RWJ_20260930_0_L2A. Analyst-defined window, not an official district boundary. This deck is a review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https://www.usgs.gov/landsat-missions/landsat-collection-2-surface-temperature ; https://science.nasa.gov/mission/landsat-9/ ; https://doi.org/10.5281/zenodo.7254220 ; https://www.openstreetmap.org/copyright . Exact scene metadata and licences are packaged.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implemented in src/coastal_multidate.py, src/planning.py and src/export_map.py. WorldCover uses CatBoost upstream; this PoC does not run its own AI segmentation.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results generated from packaged Landsat crops. USGS method: DN × 0.00341802 +149 −273.15. Two accepted September morning dates do not establish a trend or causal cooling.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results from OSM contributed building geometry and ESA WorldCover 2021. Score is a within-pilot heuristic: 50% heat rank, 30% inverse green-signal rank, 20% mapped-building rank. Not a calibrated risk index.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are actual outputs in results/planning-cells.csv. Rank ranges are across eleven selected scenarios and are not probabilistic confidence intervals. Mapped building fractions may omit unmapped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Checks in results/reference-samples.csv, using contributed OSM reference geometry. Thirty coastline right-side points are spaced at least 100 m and offset 60 m offshore, with at least 40 m distance to mapped coastline. Limited positive checks are not a representative accuracy assessment.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Intended use, not measured impact. USGS caveats: historical ASTER emissivity, vegetation-adjustment anomaly, small-target blockiness and cloud effects. ST_QA does not capture all systematic bias. No field or heat-health validation has been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Required submission guide snapshot: hackathon-snapshot/07-submission-guide.txt. Dashboard session expired on 4 October, so current eligibility/deadline not verified. All five team member names are confirmed; roles and full registration remain pending. Project uploaded to private GitHub repository NasserAlhuri/spaceHacathon. Normal Jupyter execution passed on a clean GitHub-hosted runner: 5 cells, zero errors, 35 input hashes, 3.9 seconds. Evidence: https://github.com/NasserAlhuri/spaceHacathon/actions/runs/37223755463 . Reproducibility is not independent scientific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 and licences. Exact source metadata, full citations, derived-database licences and processing parameters are included in the README and DATA-LICENSES.md.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0a6b1e2ff48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1e353a38c4db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dbb399bc34f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f021af0ab40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0feb23ecf4c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2c6efba0146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5423FAC-D931-4789-A004-9FE37183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127411-7DCE-47E6-837C-A70A08B109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E0DE68E-28DA-45C5-AB2F-EE62D408AB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E2F97A8-D62C-4966-9DE6-A8C5AFC9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D8F54D-2695-4ADA-9E14-A5C133D2F3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F98FAD-466D-4478-8D37-62CE8EC1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8FC281-5193-494A-AE43-91EFD7A847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A32F334-EBF1-4FF8-993D-43CD91FBE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F1472E4-51CF-4778-A145-FF6D3610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3A15591-8535-4B23-AF06-56647091E6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3B1C70-E4AC-4AE9-AEC2-B782000F83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A9860D-DA34-417F-ADF4-AEFA848456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AA39383-424E-465B-B9BA-BA60808F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8FCE2A-9A0B-4D41-B755-E7E06E7603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A2006C-F40A-4FBE-AE56-372EA5390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c5b1294d44659" /><Relationship Type="http://schemas.openxmlformats.org/officeDocument/2006/relationships/slideLayout" Target="/ppt/slideLayouts/slideLayout1.xml" Id="R141930ee9da643fd" /><Relationship Type="http://schemas.openxmlformats.org/officeDocument/2006/relationships/slideLayout" Target="/ppt/slideLayouts/slideLayout2.xml" Id="R51f8a0966f8b452e" /><Relationship Type="http://schemas.openxmlformats.org/officeDocument/2006/relationships/slideLayout" Target="/ppt/slideLayouts/slideLayout3.xml" Id="Rd503fe2b342a4680" /><Relationship Type="http://schemas.openxmlformats.org/officeDocument/2006/relationships/slideLayout" Target="/ppt/slideLayouts/slideLayout4.xml" Id="R77dde0da95bc445a" /><Relationship Type="http://schemas.openxmlformats.org/officeDocument/2006/relationships/slideLayout" Target="/ppt/slideLayouts/slideLayout5.xml" Id="R5d440d0fb1214b2c" /><Relationship Type="http://schemas.openxmlformats.org/officeDocument/2006/relationships/slideLayout" Target="/ppt/slideLayouts/slideLayout6.xml" Id="Rdba5581b419240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1930ee9da643fd"/>
    <p:sldLayoutId xmlns:r="http://schemas.openxmlformats.org/officeDocument/2006/relationships" id="2147483650" r:id="R51f8a0966f8b452e"/>
    <p:sldLayoutId xmlns:r="http://schemas.openxmlformats.org/officeDocument/2006/relationships" id="2147483651" r:id="Rd503fe2b342a4680"/>
    <p:sldLayoutId xmlns:r="http://schemas.openxmlformats.org/officeDocument/2006/relationships" id="2147483652" r:id="R77dde0da95bc445a"/>
    <p:sldLayoutId xmlns:r="http://schemas.openxmlformats.org/officeDocument/2006/relationships" id="2147483653" r:id="R5d440d0fb1214b2c"/>
    <p:sldLayoutId xmlns:r="http://schemas.openxmlformats.org/officeDocument/2006/relationships" id="2147483654" r:id="Rdba5581b419240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7e8383f93041d4" /><Relationship Type="http://schemas.openxmlformats.org/officeDocument/2006/relationships/image" Target="/ppt/media/image.jpeg" Id="Ra21bbc8b0b5e4a04" /><Relationship Type="http://schemas.openxmlformats.org/officeDocument/2006/relationships/notesSlide" Target="/ppt/notesSlides/notesSlide1.xml" Id="R9bc9187489854e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91294ec6b43bc" /><Relationship Type="http://schemas.openxmlformats.org/officeDocument/2006/relationships/notesSlide" Target="/ppt/notesSlides/notesSlide2.xml" Id="Rd563b664970a41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04fc603fdc4b58" /><Relationship Type="http://schemas.openxmlformats.org/officeDocument/2006/relationships/notesSlide" Target="/ppt/notesSlides/notesSlide3.xml" Id="R6e6db355873840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3208a3c804af6" /><Relationship Type="http://schemas.openxmlformats.org/officeDocument/2006/relationships/notesSlide" Target="/ppt/notesSlides/notesSlide4.xml" Id="Re30710ab2c7c4d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d94a2928584485" /><Relationship Type="http://schemas.openxmlformats.org/officeDocument/2006/relationships/image" Target="/ppt/media/image.png" Id="R5030afd80f1d4692" /><Relationship Type="http://schemas.openxmlformats.org/officeDocument/2006/relationships/notesSlide" Target="/ppt/notesSlides/notesSlide5.xml" Id="R9e5c5c5f578941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f0c66863446e9" /><Relationship Type="http://schemas.openxmlformats.org/officeDocument/2006/relationships/image" Target="/ppt/media/image2.png" Id="R26af6efb86304fe8" /><Relationship Type="http://schemas.openxmlformats.org/officeDocument/2006/relationships/notesSlide" Target="/ppt/notesSlides/notesSlide6.xml" Id="R62bfa21a0da144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0a19d58fe4253" /><Relationship Type="http://schemas.openxmlformats.org/officeDocument/2006/relationships/notesSlide" Target="/ppt/notesSlides/notesSlide7.xml" Id="Rd2589cb0bd3a4a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cf3ebaffa407f" /><Relationship Type="http://schemas.openxmlformats.org/officeDocument/2006/relationships/notesSlide" Target="/ppt/notesSlides/notesSlide8.xml" Id="R3f242ff005a149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c06b6085a946d6" /><Relationship Type="http://schemas.openxmlformats.org/officeDocument/2006/relationships/notesSlide" Target="/ppt/notesSlides/notesSlide9.xml" Id="R3b8bb1fc645a47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4b338b252c4170" /><Relationship Type="http://schemas.openxmlformats.org/officeDocument/2006/relationships/notesSlide" Target="/ppt/notesSlides/notesSlide10.xml" Id="R80318cb86a9e4c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855b2a3da41f0" /><Relationship Type="http://schemas.openxmlformats.org/officeDocument/2006/relationships/notesSlide" Target="/ppt/notesSlides/notesSlide11.xml" Id="Reb6c907dcf0644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0A5A3-C031-4B3E-BA4B-07660928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6238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5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UrbanHeat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3518B-30EA-4DDC-9C40-08BC3A8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71DAC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0">
                <a:solidFill>
                  <a:srgbClr val="71DACA"/>
                </a:solidFill>
                <a:latin typeface="Bitstream Charter"/>
                <a:ea typeface="Bitstream Charter"/>
                <a:cs typeface="Bitstream Charter"/>
              </a:rPr>
              <a:t>The Pearl planning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4C55C-A02E-43DD-BE4F-2E110DC9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6048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Al Zubarah · Qatar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Urban Expansion, Land Use Change &amp; Heat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1A982-FB56-4591-98E2-857C7349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2D4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2D4DF"/>
                </a:solidFill>
                <a:latin typeface="Bitstream Charter"/>
                <a:ea typeface="Bitstream Charter"/>
                <a:cs typeface="Bitstream Charter"/>
              </a:rPr>
              <a:t>Open-data PoC · October 2026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bbc8b0b5e4a04"/>
          <a:stretch xmlns:a="http://schemas.openxmlformats.org/drawingml/2006/main"/>
        </p:blipFill>
        <p:spPr>
          <a:xfrm xmlns:a="http://schemas.openxmlformats.org/drawingml/2006/main">
            <a:off x="7334250" y="995753"/>
            <a:ext cx="4191000" cy="48093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205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D5C58-2336-43CD-BDEB-B30493B7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 planning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B059E-4EED-4E39-8541-7CA66EE9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6FE40-BEF3-41D3-94AD-AC82C7BE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39ADF-1214-4599-90F6-4F7D4554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Urban planners need a spatial starting point for heat-mitigation site visits.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EB0D8-6690-4130-9CD0-34F55977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Our pilot screens a small part of The Pearl using repeatable satellite observations and mapped urban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57E8C-D01E-49FB-98F9-B5D610FE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 decision: where should a planner inspect pedestrian use, existing shade and planting feasibility first?</a:t>
            </a:r>
          </a:p>
        </p:txBody>
      </p:sp>
    </p:spTree>
    <p:extLst>
      <p:ext uri="{BB962C8B-B14F-4D97-AF65-F5344CB8AC3E}">
        <p14:creationId xmlns:p14="http://schemas.microsoft.com/office/powerpoint/2010/main" val="1662827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CD861-6E74-4B4B-B99D-49661632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Data and implemented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518B2-7237-4A34-AE27-D270E05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52BD0-0F71-4215-B86C-C576649C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857500"/>
                <a:gridCol w="4638675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Used for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Sentinel-2 L2A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5, 15, 30 Sep 2026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Green signal and optical quality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Landsat 8/9 L2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6, 14, 30 Sep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Surface temperature and QA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ESA WorldCover v200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2021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Historical ML-derived land cover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OpenStreetMap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Downloaded 4 Oct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Mapped buildings and references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5161C-705A-47D7-A368-B7CFA8CE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Open data. No VHR, 813 or hyperspectral imagery. We use a precomputed ML product and contributed geometry.</a:t>
            </a:r>
          </a:p>
        </p:txBody>
      </p:sp>
    </p:spTree>
    <p:extLst>
      <p:ext uri="{BB962C8B-B14F-4D97-AF65-F5344CB8AC3E}">
        <p14:creationId xmlns:p14="http://schemas.microsoft.com/office/powerpoint/2010/main" val="1907591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F7340A-7E6E-48E4-B3DB-7CBE2C42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Analysis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F4F66-428C-472F-A759-0E7751AC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B75EA-9FF8-444F-BBEB-84ACF693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AD23C-BA64-4C8A-ABA5-6BE34BED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B3CA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200EC-F5A3-478D-B872-5F11A696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Source crops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D235F-B18E-4D24-AB62-905AC7C8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66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Exact scenes and</a:t>
            </a:r>
          </a:p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reference snapshots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499AF-3C75-4BA0-B9BC-A3E32CDB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8575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34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D4AF2-115E-49F9-8662-B5CE5DB1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B3CAD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B09E3-10D9-4A42-8D03-73057A51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Quality screening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8542E-4A96-4CA9-95D6-4643BB85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9900"/>
            <a:ext cx="2266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Water, coast, crop</a:t>
            </a:r>
          </a:p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edges and thermal 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CB7A1-8599-4885-9284-E743A5F1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8575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34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4D416-7D75-46F0-B162-07584AEB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B3CA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3F34EF-CF57-45A0-B453-C26F5BB6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Matched cells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D5271-2C67-4814-B000-B2F490A6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2266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Same inland footprint</a:t>
            </a:r>
          </a:p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on accepted dates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51277-AAB0-46AF-B79F-4F3FFE91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334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3AC82-46C7-4311-8EFE-299A8B8A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52625"/>
            <a:ext cx="2571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B3CAD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A9269-B479-47AB-AB1A-3CD8E1A0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71700"/>
            <a:ext cx="2266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Planning shortlist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D8A9F-17AB-45AB-91FB-49ADFA5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2266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Explainable score</a:t>
            </a:r>
          </a:p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and sensitivity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BBE15-CE46-4C70-8842-FF6AB718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47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Thermal detail: about 100 m. Reporting cells: 300 m. Retained delivered pixels: 30 m and spatially dependent.</a:t>
            </a:r>
          </a:p>
        </p:txBody>
      </p:sp>
    </p:spTree>
    <p:extLst>
      <p:ext uri="{BB962C8B-B14F-4D97-AF65-F5344CB8AC3E}">
        <p14:creationId xmlns:p14="http://schemas.microsoft.com/office/powerpoint/2010/main" val="107548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AC409-680C-42C5-B704-6AEF6FCC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Accepted surface-temperature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D37DF-FC8A-4A6E-BD9F-321DD9C8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25CD8-754B-4D4A-AB94-0CE92796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0afd80f1d4692"/>
          <a:stretch xmlns:a="http://schemas.openxmlformats.org/drawingml/2006/main"/>
        </p:blipFill>
        <p:spPr>
          <a:xfrm xmlns:a="http://schemas.openxmlformats.org/drawingml/2006/main">
            <a:off x="1073150" y="1323975"/>
            <a:ext cx="10045700" cy="430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6E4A7-AD07-439F-BACB-E32EA6E2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1.15 km² retained on the same footprints. Surface temperature is distinct from air temperature and human heat exposure.</a:t>
            </a:r>
          </a:p>
        </p:txBody>
      </p:sp>
    </p:spTree>
    <p:extLst>
      <p:ext uri="{BB962C8B-B14F-4D97-AF65-F5344CB8AC3E}">
        <p14:creationId xmlns:p14="http://schemas.microsoft.com/office/powerpoint/2010/main" val="746196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B1010-A428-4B66-ADC3-2B029B51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Land cover and investigation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67B4F-09F9-4795-86A5-421FAD3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0D639-93DB-499C-BDD5-9AC3E827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f6efb86304fe8"/>
          <a:stretch xmlns:a="http://schemas.openxmlformats.org/drawingml/2006/main"/>
        </p:blipFill>
        <p:spPr>
          <a:xfrm xmlns:a="http://schemas.openxmlformats.org/drawingml/2006/main">
            <a:off x="678656" y="1381125"/>
            <a:ext cx="10834688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F9E42-C67F-4E3C-AC9D-7F65421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Historical land cover and contributed footprints provide context for site inspection.</a:t>
            </a:r>
          </a:p>
        </p:txBody>
      </p:sp>
    </p:spTree>
    <p:extLst>
      <p:ext uri="{BB962C8B-B14F-4D97-AF65-F5344CB8AC3E}">
        <p14:creationId xmlns:p14="http://schemas.microsoft.com/office/powerpoint/2010/main" val="850768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0E6B2-DAF5-40A0-8A58-E0B1C6A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Shortlist and sensitivity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83B11-73A8-4A2F-8C92-CDF63BD5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C67AEB-B8F7-4CF9-996D-858538CF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8350"/>
                <a:gridCol w="2228850"/>
                <a:gridCol w="2000250"/>
                <a:gridCol w="2457450"/>
                <a:gridCol w="22479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Cell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Surface °C*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Green %*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Buildings %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Rank range</a:t>
                      </a:r>
                    </a:p>
                  </a:txBody>
                  <a:tcPr marL="91440" marR="91440" marT="45720" marB="45720">
                    <a:solidFill>
                      <a:srgbClr val="18334C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V02-05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45.2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5.2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34.9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1–1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V04-04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44.9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6.0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24.7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2–3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V04-03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44.2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4.2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30.3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34C"/>
                          </a:solidFill>
                          <a:latin typeface="Bitstream Charter"/>
                          <a:ea typeface="Bitstream Charter"/>
                          <a:cs typeface="Bitstream Charter"/>
                        </a:rPr>
                        <a:t>2–6</a:t>
                      </a:r>
                    </a:p>
                  </a:txBody>
                  <a:tcPr marL="91440" marR="91440" marT="45720" marB="45720">
                    <a:solidFill>
                      <a:srgbClr val="F0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01F6E-4E4D-44F9-AA29-C000816F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 first two candidates remain near the top across all 11 tested settings. The third is less stable.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1D93E-D8F7-4245-B0B0-411587B9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*Averages of the two date-level cell summaries. Coverage is partial and reported per cell. No cooling benefit is estimated.</a:t>
            </a:r>
          </a:p>
        </p:txBody>
      </p:sp>
    </p:spTree>
    <p:extLst>
      <p:ext uri="{BB962C8B-B14F-4D97-AF65-F5344CB8AC3E}">
        <p14:creationId xmlns:p14="http://schemas.microsoft.com/office/powerpoint/2010/main" val="1769409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17B2D-A845-4B47-930E-0CE5F568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Reference checks and remaining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57C73-656C-4811-8A84-B4F6807F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44E9D-55B8-4C7D-93AA-CF24C2C9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91241-A617-4567-A2F5-8F3CA754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7632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30 / 30 coastal-water points agree with the water screen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53B08-59E5-406D-B2D9-05BDE4E7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763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Small water features: all 3 sampled interiors are missed.</a:t>
            </a:r>
          </a:p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Grass: no interiors survive the reference erosion.</a:t>
            </a:r>
          </a:p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Buildings: 1 of 30 sampled interiors passes the green threshold.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0EC2C-B0EA-45AC-B682-B7F12686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Human reference confirmation and independent thermal calibration remain pending. These checks cannot certify overall accuracy.</a:t>
            </a:r>
          </a:p>
        </p:txBody>
      </p:sp>
    </p:spTree>
    <p:extLst>
      <p:ext uri="{BB962C8B-B14F-4D97-AF65-F5344CB8AC3E}">
        <p14:creationId xmlns:p14="http://schemas.microsoft.com/office/powerpoint/2010/main" val="627270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61DAB-FBA0-447F-B920-DEF7007E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Impact and decision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9246E-19CD-48A9-9F40-B9B02F2B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09953-5A84-4861-A6C0-C8CF06BC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E876D-F63B-4858-A0AB-36FC4A4B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The output helps organise targeted site visits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6E270-A07A-4AD3-93A9-3B66BF7A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A planner can inspect the shortlist, its contributing indicators, coverage and sensitivity before choosing local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C7F7E-FD71-4330-91C4-BA31E013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No measured savings, intervention benefit, heat-health risk, rural-reference UHI intensity or long-term warming trend is claimed.</a:t>
            </a:r>
          </a:p>
        </p:txBody>
      </p:sp>
    </p:spTree>
    <p:extLst>
      <p:ext uri="{BB962C8B-B14F-4D97-AF65-F5344CB8AC3E}">
        <p14:creationId xmlns:p14="http://schemas.microsoft.com/office/powerpoint/2010/main" val="10716305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A05CB-1277-42B3-920F-B1D28F37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Next steps and submission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7AA15-5BB1-4E37-9C09-A39F59BF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A5FBC-680D-4E87-9826-F29EB8E2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D2ECE-16C0-4F2F-AD2D-D2BCBDF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Next scientific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A3AD2-1375-4311-BF1E-92AE7DE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2870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Confirm reference samples with a human reviewer. Add suitable VHR segmentation and paving/shade indicators when the data support them. Validate thermal observations independently.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CA7B6-7BEA-49CA-9CD4-4A2F2E12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625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Before submitting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297C1-4998-43E7-B099-A2926C14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287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Notebook check passed on GitHub. Confirm roles, member registration, evaluator access and the deadline. Submit this PDF after team review.</a:t>
            </a:r>
          </a:p>
        </p:txBody>
      </p:sp>
    </p:spTree>
    <p:extLst>
      <p:ext uri="{BB962C8B-B14F-4D97-AF65-F5344CB8AC3E}">
        <p14:creationId xmlns:p14="http://schemas.microsoft.com/office/powerpoint/2010/main" val="12102117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E349A-8B96-410B-802C-7E0220B9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Sources and licences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8F829-ADDC-4E43-96C7-1300D07B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UrbanHeat AI · Al Zubarah · Qatar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E6181-ED1D-4B0C-9D7D-390C4923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5B6B7A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723A2-A8D7-4081-BBF6-2B86DF18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Contains modified Copernicus Sentinel data (2026)</a:t>
            </a:r>
          </a:p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Copernicus Sentinel terms. Exact scene records are in the repository.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ED8EE-6316-4FAD-B480-8B978817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Landsat imagery courtesy of the U.S. Geological Survey</a:t>
            </a:r>
          </a:p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Landsat 8–9 Collection 2 L2. doi.org/10.5066/P9OGBGM6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71F1A-901A-45E5-B2AA-494F5839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ESA WorldCover 2021 v200, Zanaga et al. (2022)</a:t>
            </a:r>
          </a:p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CC BY 4.0. doi.org/10.5281/zenodo.7254220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6EF76-0C69-4100-A311-D64E0123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© OpenStreetMap contributors</a:t>
            </a:r>
          </a:p>
          <a:p xmlns:a="http://schemas.openxmlformats.org/drawingml/2006/main">
            <a:pPr>
              <a:def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0">
                <a:solidFill>
                  <a:srgbClr val="18334C"/>
                </a:solidFill>
                <a:latin typeface="Bitstream Charter"/>
                <a:ea typeface="Bitstream Charter"/>
                <a:cs typeface="Bitstream Charter"/>
              </a:rPr>
              <a:t>ODbL 1.0. openstreetmap.org/copyright</a:t>
            </a:r>
          </a:p>
        </p:txBody>
      </p:sp>
    </p:spTree>
    <p:extLst>
      <p:ext uri="{BB962C8B-B14F-4D97-AF65-F5344CB8AC3E}">
        <p14:creationId xmlns:p14="http://schemas.microsoft.com/office/powerpoint/2010/main" val="947417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2026-10-04T18:23:42.2250000Z</dcterms:created>
  <dcterms:modified xsi:type="dcterms:W3CDTF">2026-10-04T18:23:42.2250000Z</dcterms:modified>
</coreProperties>
</file>