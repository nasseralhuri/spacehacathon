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f97355adb5847a8" /><Relationship Type="http://schemas.openxmlformats.org/officeDocument/2006/relationships/extended-properties" Target="/docProps/app.xml" Id="Rd34fd30819b04a87" /><Relationship Type="http://schemas.openxmlformats.org/officeDocument/2006/relationships/officeDocument" Target="/ppt/presentation.xml" Id="R7f3cc5e1922d4b8c" /></Relationships>
</file>

<file path=ppt/presentation.xml><?xml version="1.0" encoding="utf-8"?>
<p:presentation xmlns:p="http://schemas.openxmlformats.org/presentationml/2006/main">
  <p:sldMasterIdLst>
    <p:sldMasterId xmlns:r="http://schemas.openxmlformats.org/officeDocument/2006/relationships" id="2147483648" r:id="R34a720634f884fa6"/>
  </p:sldMasterIdLst>
  <p:notesMasterIdLst>
    <p:notesMasterId xmlns:r="http://schemas.openxmlformats.org/officeDocument/2006/relationships" r:id="R7acdba10d2714941"/>
  </p:notesMasterIdLst>
  <p:sldIdLst>
    <p:sldId xmlns:r="http://schemas.openxmlformats.org/officeDocument/2006/relationships" id="256" r:id="R98937b3c76934bc4"/>
    <p:sldId xmlns:r="http://schemas.openxmlformats.org/officeDocument/2006/relationships" id="257" r:id="Rf28dc4b617c7440b"/>
    <p:sldId xmlns:r="http://schemas.openxmlformats.org/officeDocument/2006/relationships" id="258" r:id="R0c88756a305f4ec2"/>
    <p:sldId xmlns:r="http://schemas.openxmlformats.org/officeDocument/2006/relationships" id="259" r:id="R82837979b3a04773"/>
    <p:sldId xmlns:r="http://schemas.openxmlformats.org/officeDocument/2006/relationships" id="260" r:id="R0542771bda4a4441"/>
    <p:sldId xmlns:r="http://schemas.openxmlformats.org/officeDocument/2006/relationships" id="261" r:id="Rea121bcc02dd4701"/>
    <p:sldId xmlns:r="http://schemas.openxmlformats.org/officeDocument/2006/relationships" id="262" r:id="Ra74c5046c83e4649"/>
    <p:sldId xmlns:r="http://schemas.openxmlformats.org/officeDocument/2006/relationships" id="263" r:id="R58bcfc7cf28648a8"/>
    <p:sldId xmlns:r="http://schemas.openxmlformats.org/officeDocument/2006/relationships" id="264" r:id="R4bbacd5e86654ace"/>
    <p:sldId xmlns:r="http://schemas.openxmlformats.org/officeDocument/2006/relationships" id="265" r:id="R7303b011f8b84302"/>
    <p:sldId xmlns:r="http://schemas.openxmlformats.org/officeDocument/2006/relationships" id="266" r:id="R5c22cfe2298c4f09"/>
    <p:sldId xmlns:r="http://schemas.openxmlformats.org/officeDocument/2006/relationships" id="267" r:id="Rc01bd0308261467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97ff34b5a5417d" /><Relationship Type="http://schemas.openxmlformats.org/officeDocument/2006/relationships/slideMaster" Target="/ppt/slideMasters/slideMaster1.xml" Id="R34a720634f884fa6" /><Relationship Type="http://schemas.openxmlformats.org/officeDocument/2006/relationships/notesMaster" Target="/ppt/notesMasters/notesMaster1.xml" Id="R7acdba10d2714941" /><Relationship Type="http://schemas.openxmlformats.org/officeDocument/2006/relationships/presProps" Target="/ppt/presProps.xml" Id="R84b9bce5984e4fb9" /><Relationship Type="http://schemas.openxmlformats.org/officeDocument/2006/relationships/tableStyles" Target="/ppt/tableStyles.xml" Id="R658b14621f1d4813" /><Relationship Type="http://schemas.openxmlformats.org/officeDocument/2006/relationships/slide" Target="/ppt/slides/slide1.xml" Id="R98937b3c76934bc4" /><Relationship Type="http://schemas.openxmlformats.org/officeDocument/2006/relationships/slide" Target="/ppt/slides/slide2.xml" Id="Rf28dc4b617c7440b" /><Relationship Type="http://schemas.openxmlformats.org/officeDocument/2006/relationships/slide" Target="/ppt/slides/slide3.xml" Id="R0c88756a305f4ec2" /><Relationship Type="http://schemas.openxmlformats.org/officeDocument/2006/relationships/slide" Target="/ppt/slides/slide4.xml" Id="R82837979b3a04773" /><Relationship Type="http://schemas.openxmlformats.org/officeDocument/2006/relationships/slide" Target="/ppt/slides/slide5.xml" Id="R0542771bda4a4441" /><Relationship Type="http://schemas.openxmlformats.org/officeDocument/2006/relationships/slide" Target="/ppt/slides/slide6.xml" Id="Rea121bcc02dd4701" /><Relationship Type="http://schemas.openxmlformats.org/officeDocument/2006/relationships/slide" Target="/ppt/slides/slide7.xml" Id="Ra74c5046c83e4649" /><Relationship Type="http://schemas.openxmlformats.org/officeDocument/2006/relationships/slide" Target="/ppt/slides/slide8.xml" Id="R58bcfc7cf28648a8" /><Relationship Type="http://schemas.openxmlformats.org/officeDocument/2006/relationships/slide" Target="/ppt/slides/slide9.xml" Id="R4bbacd5e86654ace" /><Relationship Type="http://schemas.openxmlformats.org/officeDocument/2006/relationships/slide" Target="/ppt/slides/slide10.xml" Id="R7303b011f8b84302" /><Relationship Type="http://schemas.openxmlformats.org/officeDocument/2006/relationships/slide" Target="/ppt/slides/slide11.xml" Id="R5c22cfe2298c4f09" /><Relationship Type="http://schemas.openxmlformats.org/officeDocument/2006/relationships/slide" Target="/ppt/slides/slide12.xml" Id="Rc01bd0308261467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39dc722e0a34ae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a433d7a57ab4591" /><Relationship Type="http://schemas.openxmlformats.org/officeDocument/2006/relationships/notesMaster" Target="/ppt/notesMasters/notesMaster1.xml" Id="R4b305d2d478a41fb"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b5615da62347e8" /><Relationship Type="http://schemas.openxmlformats.org/officeDocument/2006/relationships/notesMaster" Target="/ppt/notesMasters/notesMaster1.xml" Id="R0ed161abda5d409d" /></Relationships>
</file>

<file path=ppt/notesSlides/_rels/notesSlide3.xml.rels>&#65279;<?xml version="1.0" encoding="utf-8"?><Relationships xmlns="http://schemas.openxmlformats.org/package/2006/relationships"><Relationship Type="http://schemas.openxmlformats.org/officeDocument/2006/relationships/slide" Target="/ppt/slides/slide3.xml" Id="Rab5d592bd69e469d" /><Relationship Type="http://schemas.openxmlformats.org/officeDocument/2006/relationships/notesMaster" Target="/ppt/notesMasters/notesMaster1.xml" Id="R03893f2a42054ee5" /></Relationships>
</file>

<file path=ppt/notesSlides/_rels/notesSlide4.xml.rels>&#65279;<?xml version="1.0" encoding="utf-8"?><Relationships xmlns="http://schemas.openxmlformats.org/package/2006/relationships"><Relationship Type="http://schemas.openxmlformats.org/officeDocument/2006/relationships/slide" Target="/ppt/slides/slide4.xml" Id="R7a10fee5554946ad" /><Relationship Type="http://schemas.openxmlformats.org/officeDocument/2006/relationships/notesMaster" Target="/ppt/notesMasters/notesMaster1.xml" Id="Re827ac32f7c749a5" /></Relationships>
</file>

<file path=ppt/notesSlides/_rels/notesSlide5.xml.rels>&#65279;<?xml version="1.0" encoding="utf-8"?><Relationships xmlns="http://schemas.openxmlformats.org/package/2006/relationships"><Relationship Type="http://schemas.openxmlformats.org/officeDocument/2006/relationships/slide" Target="/ppt/slides/slide5.xml" Id="Rbb249a0457434b34" /><Relationship Type="http://schemas.openxmlformats.org/officeDocument/2006/relationships/notesMaster" Target="/ppt/notesMasters/notesMaster1.xml" Id="Re83ec28ca90a4b13" /></Relationships>
</file>

<file path=ppt/notesSlides/_rels/notesSlide6.xml.rels>&#65279;<?xml version="1.0" encoding="utf-8"?><Relationships xmlns="http://schemas.openxmlformats.org/package/2006/relationships"><Relationship Type="http://schemas.openxmlformats.org/officeDocument/2006/relationships/slide" Target="/ppt/slides/slide6.xml" Id="Rbc7c939155f84903" /><Relationship Type="http://schemas.openxmlformats.org/officeDocument/2006/relationships/notesMaster" Target="/ppt/notesMasters/notesMaster1.xml" Id="R3d779e9139f44991" /></Relationships>
</file>

<file path=ppt/notesSlides/_rels/notesSlide7.xml.rels>&#65279;<?xml version="1.0" encoding="utf-8"?><Relationships xmlns="http://schemas.openxmlformats.org/package/2006/relationships"><Relationship Type="http://schemas.openxmlformats.org/officeDocument/2006/relationships/slide" Target="/ppt/slides/slide7.xml" Id="R8e413a2f544347b3" /><Relationship Type="http://schemas.openxmlformats.org/officeDocument/2006/relationships/notesMaster" Target="/ppt/notesMasters/notesMaster1.xml" Id="R3b5d53b6e1174477" /></Relationships>
</file>

<file path=ppt/notesSlides/_rels/notesSlide8.xml.rels>&#65279;<?xml version="1.0" encoding="utf-8"?><Relationships xmlns="http://schemas.openxmlformats.org/package/2006/relationships"><Relationship Type="http://schemas.openxmlformats.org/officeDocument/2006/relationships/slide" Target="/ppt/slides/slide8.xml" Id="Rd616c41ed74748c7" /><Relationship Type="http://schemas.openxmlformats.org/officeDocument/2006/relationships/notesMaster" Target="/ppt/notesMasters/notesMaster1.xml" Id="Rb804346d690a461a" /></Relationships>
</file>

<file path=ppt/notesSlides/_rels/notesSlide9.xml.rels>&#65279;<?xml version="1.0" encoding="utf-8"?><Relationships xmlns="http://schemas.openxmlformats.org/package/2006/relationships"><Relationship Type="http://schemas.openxmlformats.org/officeDocument/2006/relationships/slide" Target="/ppt/slides/slide9.xml" Id="Rda328ab5ae104478" /><Relationship Type="http://schemas.openxmlformats.org/officeDocument/2006/relationships/notesMaster" Target="/ppt/notesMasters/notesMaster1.xml" Id="Rf410457621e8485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bf17f7e0b8c45e6" /><Relationship Type="http://schemas.openxmlformats.org/officeDocument/2006/relationships/notesMaster" Target="/ppt/notesMasters/notesMaster1.xml" Id="Rd3128429472a4aa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918630d1598410e" /><Relationship Type="http://schemas.openxmlformats.org/officeDocument/2006/relationships/notesMaster" Target="/ppt/notesMasters/notesMaster1.xml" Id="R1ae68962332947d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b7739686a664ea4" /><Relationship Type="http://schemas.openxmlformats.org/officeDocument/2006/relationships/notesMaster" Target="/ppt/notesMasters/notesMaster1.xml" Id="Ree83e4d68e18414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 draft. Theme: Urban Expansion, Land Use Change &amp; Heat Risk. The Al Khor README and supplied handover are the sources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problem and user need from README sections 1 and 2. No field interviews, exposure measurements or validated benefit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README sections 1, 2 and 8. The use case is proposed, not validated with users.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scene.json, landsat-scene.json, metadata, README sections 3 and 4. Contains modified Copernicus Sentinel data (2026). Landsat courtesy USGS, doi:10.5066/P9OGBGM6. ESA WorldCover 2021 v200, Zanaga et al. (2022), CC BY 4.0, doi:10.5281/zenodo.7254220. OpenStreetMap contributors, ODbL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Editable workflow diagram. Methods are detailed in README section 4. Inputs are 35 hashed files; matching support is required for the two accepted thermal dates. Ranking is an investigation heuristic.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results/planning-map.png, results/planning-summary.json and aoi.geojson. WGS84 window 51.445-51.555 E, 25.635-25.730 N. Includes city, northern edge, Al Bayt Stadium and surrounding context. It is not an official administrative boundary. All source-image labels must remain visible.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results/multidate-temperature.png and coastal-multidate-summary.json. The two accepted dates share screened support. Footprint is observed sample area, not total built-up city area. Surface temperature is not air temperature or heat-health risk.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results/planning-summary.json, planning-sensitivity.csv and README section 8. Green-pixel share is thresholded NDVI, not subpixel vegetation fraction. Building coverage is contributed and incomplete. Candidate retained sample footprint totals 31.8195 km².</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README sections 6 and 8, reference-samples.csv, notebook-verification.json when available. 20/30 coastal references agree with the spectral/QA screen. All 30 OSM water-polygon references disagree, with some contributed polygons spanning dry land. These positive-only agreement tests do not establish overall accuracy. Reproducibility does not establish scientific accuracy. Normal-kernel verification: https://github.com/NasserAlhuri/spaceHacathon/actions/runs/37269889977. Source commit 9781b95a46d86eb858ae9714ee53198ad22cfb6c. The executed notebook was retrieved from artifact 11328001190. All seven regenerated CSV tables match the supplied baseline byte for byte.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next-stage activities, not completed work. See README sections 1, 2 and 8. A planner partnership, field validation and suitable imagery are dependencies; no partner agreement or funded incubation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Roles assigned at the team leader’s request on 5 October 2026. Nasser is registered leader. Other responsibilities are proposed review ownership and actual member review remains pending. All five platform registrations showed Signed in during the live check. Submission still requires final approval; evaluator access is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README sections 3 and 10, DATA-LICENSES.md, scene.json, landsat-scene.json and metadata. These are dataset attributions, not claims of field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8e2300c07e456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b115a8914484a5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181d5e8f67b440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cb7e48ebfae46a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6ab576dc074d4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55ea358e4084b7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CC0BA0D-58FF-45AF-B5D5-74814FE1532F}"/>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5DBD609-09E9-4D1D-90D1-0D424A343F3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63500446-4C60-417A-B129-2505FD2C4D9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F60C8584-7584-4899-87AF-0419F0F9E8FF}"/>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10D4715-6B12-4FE4-B6DC-5CEE7240168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1A73822-E186-4F1D-9135-D30B575063FA}"/>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A0BBFBA-DD29-4A4F-9A85-BB154B4CC00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F06C5F58-0A1E-46E5-9A3A-89396AE0CDA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0A9CE12C-77C2-442D-947C-3DFA997FB606}"/>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E6C702E-B61E-4581-A1A5-21A2EE7C6E6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61D141DB-9F8B-4642-9385-217FAA90180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9D8DD63-91FC-418F-94C4-B808F6D761E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8D8D450-9A04-4FF8-BAA7-C4678D9C3664}"/>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2A6439C-DF7D-431F-B4D8-467542E598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4F02E7C-D220-49F8-8410-0367F719A65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1b6b7f7b164ff6" /><Relationship Type="http://schemas.openxmlformats.org/officeDocument/2006/relationships/slideLayout" Target="/ppt/slideLayouts/slideLayout1.xml" Id="Ra6a2c7ae9ec4407e" /><Relationship Type="http://schemas.openxmlformats.org/officeDocument/2006/relationships/slideLayout" Target="/ppt/slideLayouts/slideLayout2.xml" Id="R55b20516cf0c478a" /><Relationship Type="http://schemas.openxmlformats.org/officeDocument/2006/relationships/slideLayout" Target="/ppt/slideLayouts/slideLayout3.xml" Id="Ree1322e59e1842c6" /><Relationship Type="http://schemas.openxmlformats.org/officeDocument/2006/relationships/slideLayout" Target="/ppt/slideLayouts/slideLayout4.xml" Id="R97c41d82a8ac4422" /><Relationship Type="http://schemas.openxmlformats.org/officeDocument/2006/relationships/slideLayout" Target="/ppt/slideLayouts/slideLayout5.xml" Id="Rb1972bbd9b894c4d" /><Relationship Type="http://schemas.openxmlformats.org/officeDocument/2006/relationships/slideLayout" Target="/ppt/slideLayouts/slideLayout6.xml" Id="R13e4b030124c4ce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6a2c7ae9ec4407e"/>
    <p:sldLayoutId xmlns:r="http://schemas.openxmlformats.org/officeDocument/2006/relationships" id="2147483650" r:id="R55b20516cf0c478a"/>
    <p:sldLayoutId xmlns:r="http://schemas.openxmlformats.org/officeDocument/2006/relationships" id="2147483651" r:id="Ree1322e59e1842c6"/>
    <p:sldLayoutId xmlns:r="http://schemas.openxmlformats.org/officeDocument/2006/relationships" id="2147483652" r:id="R97c41d82a8ac4422"/>
    <p:sldLayoutId xmlns:r="http://schemas.openxmlformats.org/officeDocument/2006/relationships" id="2147483653" r:id="Rb1972bbd9b894c4d"/>
    <p:sldLayoutId xmlns:r="http://schemas.openxmlformats.org/officeDocument/2006/relationships" id="2147483654" r:id="R13e4b030124c4ce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19a857865c44599" /><Relationship Type="http://schemas.openxmlformats.org/officeDocument/2006/relationships/notesSlide" Target="/ppt/notesSlides/notesSlide1.xml" Id="Reb0663c95a41423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e9d54ef2299450a" /><Relationship Type="http://schemas.openxmlformats.org/officeDocument/2006/relationships/notesSlide" Target="/ppt/notesSlides/notesSlide2.xml" Id="R9ea0dc79a2d1415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afab7b9c504420f" /><Relationship Type="http://schemas.openxmlformats.org/officeDocument/2006/relationships/notesSlide" Target="/ppt/notesSlides/notesSlide3.xml" Id="R3051cf8b98fd4a2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9b10d69fd0c495d" /><Relationship Type="http://schemas.openxmlformats.org/officeDocument/2006/relationships/notesSlide" Target="/ppt/notesSlides/notesSlide4.xml" Id="Rd77d82a0f4a7496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2eae0d28430490a" /><Relationship Type="http://schemas.openxmlformats.org/officeDocument/2006/relationships/notesSlide" Target="/ppt/notesSlides/notesSlide5.xml" Id="R93242db01d294b7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9624bd111f442ab" /><Relationship Type="http://schemas.openxmlformats.org/officeDocument/2006/relationships/image" Target="/ppt/media/image.png" Id="R7d4ad72d3ee4464c" /><Relationship Type="http://schemas.openxmlformats.org/officeDocument/2006/relationships/notesSlide" Target="/ppt/notesSlides/notesSlide6.xml" Id="Rcd323e6043e7413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77018c1f7d544df" /><Relationship Type="http://schemas.openxmlformats.org/officeDocument/2006/relationships/image" Target="/ppt/media/image2.png" Id="Rd7fb2328741e4002" /><Relationship Type="http://schemas.openxmlformats.org/officeDocument/2006/relationships/notesSlide" Target="/ppt/notesSlides/notesSlide7.xml" Id="R20c1ad775b8d45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45b88ac856c4a9a" /><Relationship Type="http://schemas.openxmlformats.org/officeDocument/2006/relationships/notesSlide" Target="/ppt/notesSlides/notesSlide8.xml" Id="R0de8170f655841f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f4428eb06454263" /><Relationship Type="http://schemas.openxmlformats.org/officeDocument/2006/relationships/notesSlide" Target="/ppt/notesSlides/notesSlide9.xml" Id="R39129d61b362464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d43d3d7b83547e8" /><Relationship Type="http://schemas.openxmlformats.org/officeDocument/2006/relationships/notesSlide" Target="/ppt/notesSlides/notesSlide10.xml" Id="R1201d0fcefd24f2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d97b5cbc51b4a94" /><Relationship Type="http://schemas.openxmlformats.org/officeDocument/2006/relationships/notesSlide" Target="/ppt/notesSlides/notesSlide11.xml" Id="Rf7c4fec2a88046e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5b7e298e3a54b2a" /><Relationship Type="http://schemas.openxmlformats.org/officeDocument/2006/relationships/notesSlide" Target="/ppt/notesSlides/notesSlide12.xml" Id="Rb1a94691582b468b" /></Relationships>
</file>

<file path=ppt/slides/slide1.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ED49F76-FF23-4EF2-88F4-D39403A26550}"/>
              </a:ext>
            </a:extLst>
          </p:cNvPr>
          <p:cNvSpPr>
            <a:spLocks xmlns:a="http://schemas.openxmlformats.org/drawingml/2006/main" noGrp="1"/>
          </p:cNvSpPr>
          <p:nvPr/>
        </p:nvSpPr>
        <p:spPr>
          <a:xfrm xmlns:a="http://schemas.openxmlformats.org/drawingml/2006/main">
            <a:off x="609600" y="1428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163D46"/>
                </a:solidFill>
                <a:latin typeface="Bitstream Charter"/>
                <a:ea typeface="Bitstream Charter"/>
                <a:cs typeface="Bitstream Charter"/>
              </a:defRPr>
            </a:pPr>
            <a:r>
              <a:rPr sz="5400" b="1">
                <a:solidFill>
                  <a:srgbClr val="163D46"/>
                </a:solidFill>
                <a:latin typeface="Bitstream Charter"/>
                <a:ea typeface="Bitstream Charter"/>
                <a:cs typeface="Bitstream Charter"/>
              </a:rPr>
              <a:t>UrbanHeat AI</a:t>
            </a:r>
          </a:p>
        </p:txBody>
      </p:sp>
      <p:sp>
        <p:nvSpPr>
          <p:cNvPr id="2" name="">
            <a:extLst xmlns:a="http://schemas.openxmlformats.org/drawingml/2006/main">
              <a:ext uri="{FF2B5EF4-FFF2-40B4-BE49-F238E27FC236}">
                <a16:creationId xmlns:a16="http://schemas.microsoft.com/office/drawing/2014/main" id="{AC234046-9686-467C-AAD0-A02520D8C18B}"/>
              </a:ext>
            </a:extLst>
          </p:cNvPr>
          <p:cNvSpPr>
            <a:spLocks xmlns:a="http://schemas.openxmlformats.org/drawingml/2006/main" noGrp="1"/>
          </p:cNvSpPr>
          <p:nvPr/>
        </p:nvSpPr>
        <p:spPr>
          <a:xfrm xmlns:a="http://schemas.openxmlformats.org/drawingml/2006/main">
            <a:off x="609600" y="23812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213846"/>
                </a:solidFill>
                <a:latin typeface="Bitstream Charter"/>
                <a:ea typeface="Bitstream Charter"/>
                <a:cs typeface="Bitstream Charter"/>
              </a:defRPr>
            </a:pPr>
            <a:r>
              <a:rPr sz="3000" b="0">
                <a:solidFill>
                  <a:srgbClr val="213846"/>
                </a:solidFill>
                <a:latin typeface="Bitstream Charter"/>
                <a:ea typeface="Bitstream Charter"/>
                <a:cs typeface="Bitstream Charter"/>
              </a:rPr>
              <a:t>Al Khor area study, Qatar</a:t>
            </a:r>
          </a:p>
        </p:txBody>
      </p:sp>
      <p:sp>
        <p:nvSpPr>
          <p:cNvPr id="3" name="">
            <a:extLst xmlns:a="http://schemas.openxmlformats.org/drawingml/2006/main">
              <a:ext uri="{FF2B5EF4-FFF2-40B4-BE49-F238E27FC236}">
                <a16:creationId xmlns:a16="http://schemas.microsoft.com/office/drawing/2014/main" id="{A4BB9E9E-06DF-4C6E-A316-1CE9A4429251}"/>
              </a:ext>
            </a:extLst>
          </p:cNvPr>
          <p:cNvSpPr>
            <a:spLocks xmlns:a="http://schemas.openxmlformats.org/drawingml/2006/main" noGrp="1"/>
          </p:cNvSpPr>
          <p:nvPr/>
        </p:nvSpPr>
        <p:spPr>
          <a:xfrm xmlns:a="http://schemas.openxmlformats.org/drawingml/2006/main">
            <a:off x="609600" y="347662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Theme: Urban Expansion, Land Use Change &amp; Heat Risk</a:t>
            </a:r>
          </a:p>
        </p:txBody>
      </p:sp>
      <p:sp>
        <p:nvSpPr>
          <p:cNvPr id="4" name="">
            <a:extLst xmlns:a="http://schemas.openxmlformats.org/drawingml/2006/main">
              <a:ext uri="{FF2B5EF4-FFF2-40B4-BE49-F238E27FC236}">
                <a16:creationId xmlns:a16="http://schemas.microsoft.com/office/drawing/2014/main" id="{1025BA85-3DEB-42EA-BCFC-93CE1C88BEB6}"/>
              </a:ext>
            </a:extLst>
          </p:cNvPr>
          <p:cNvSpPr>
            <a:spLocks xmlns:a="http://schemas.openxmlformats.org/drawingml/2006/main" noGrp="1"/>
          </p:cNvSpPr>
          <p:nvPr/>
        </p:nvSpPr>
        <p:spPr>
          <a:xfrm xmlns:a="http://schemas.openxmlformats.org/drawingml/2006/main">
            <a:off x="609600" y="409575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Satellite indicators for urban-planning site visits</a:t>
            </a:r>
          </a:p>
        </p:txBody>
      </p:sp>
      <p:sp>
        <p:nvSpPr>
          <p:cNvPr id="5" name="">
            <a:extLst xmlns:a="http://schemas.openxmlformats.org/drawingml/2006/main">
              <a:ext uri="{FF2B5EF4-FFF2-40B4-BE49-F238E27FC236}">
                <a16:creationId xmlns:a16="http://schemas.microsoft.com/office/drawing/2014/main" id="{AF9B2683-A908-4367-90AA-FF17F8D7EDCE}"/>
              </a:ext>
            </a:extLst>
          </p:cNvPr>
          <p:cNvSpPr>
            <a:spLocks xmlns:a="http://schemas.openxmlformats.org/drawingml/2006/main" noGrp="1"/>
          </p:cNvSpPr>
          <p:nvPr/>
        </p:nvSpPr>
        <p:spPr>
          <a:xfrm xmlns:a="http://schemas.openxmlformats.org/drawingml/2006/main">
            <a:off x="609600" y="47148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Team Al Zubarah, Qatar</a:t>
            </a:r>
          </a:p>
        </p:txBody>
      </p:sp>
      <p:sp>
        <p:nvSpPr>
          <p:cNvPr id="6" name="">
            <a:extLst xmlns:a="http://schemas.openxmlformats.org/drawingml/2006/main">
              <a:ext uri="{FF2B5EF4-FFF2-40B4-BE49-F238E27FC236}">
                <a16:creationId xmlns:a16="http://schemas.microsoft.com/office/drawing/2014/main" id="{225913F7-AE88-4FAB-ADE0-722F438AFB7F}"/>
              </a:ext>
            </a:extLst>
          </p:cNvPr>
          <p:cNvSpPr>
            <a:spLocks xmlns:a="http://schemas.openxmlformats.org/drawingml/2006/main" noGrp="1"/>
          </p:cNvSpPr>
          <p:nvPr/>
        </p:nvSpPr>
        <p:spPr>
          <a:xfrm xmlns:a="http://schemas.openxmlformats.org/drawingml/2006/main">
            <a:off x="609600" y="533400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UAE Space Academy hackathon, October 2026</a:t>
            </a:r>
          </a:p>
        </p:txBody>
      </p:sp>
    </p:spTree>
    <p:extLst>
      <p:ext uri="{BB962C8B-B14F-4D97-AF65-F5344CB8AC3E}">
        <p14:creationId xmlns:p14="http://schemas.microsoft.com/office/powerpoint/2010/main" val="1741564981"/>
      </p:ext>
    </p:extLst>
  </p:cSld>
</p:sld>
</file>

<file path=ppt/slides/slide2.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D959EA6-1AEF-435B-9C9F-589693E3E7A0}"/>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The planning problem</a:t>
            </a:r>
          </a:p>
        </p:txBody>
      </p:sp>
      <p:sp>
        <p:nvSpPr>
          <p:cNvPr id="2" name="">
            <a:extLst xmlns:a="http://schemas.openxmlformats.org/drawingml/2006/main">
              <a:ext uri="{FF2B5EF4-FFF2-40B4-BE49-F238E27FC236}">
                <a16:creationId xmlns:a16="http://schemas.microsoft.com/office/drawing/2014/main" id="{0B3755F6-7288-4FD1-85BA-CE2FEB467E93}"/>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Surface heating and limited greenery can help identify places that warrant a closer look.</a:t>
            </a:r>
          </a:p>
        </p:txBody>
      </p:sp>
      <p:sp>
        <p:nvSpPr>
          <p:cNvPr id="3" name="">
            <a:extLst xmlns:a="http://schemas.openxmlformats.org/drawingml/2006/main">
              <a:ext uri="{FF2B5EF4-FFF2-40B4-BE49-F238E27FC236}">
                <a16:creationId xmlns:a16="http://schemas.microsoft.com/office/drawing/2014/main" id="{120521AF-E359-4B96-A28A-B6C21D0C10BA}"/>
              </a:ext>
            </a:extLst>
          </p:cNvPr>
          <p:cNvSpPr>
            <a:spLocks xmlns:a="http://schemas.openxmlformats.org/drawingml/2006/main" noGrp="1"/>
          </p:cNvSpPr>
          <p:nvPr/>
        </p:nvSpPr>
        <p:spPr>
          <a:xfrm xmlns:a="http://schemas.openxmlformats.org/drawingml/2006/main">
            <a:off x="609600" y="26384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Municipal planners need traceable evidence to organise field investigation before proposing interventions.</a:t>
            </a:r>
          </a:p>
        </p:txBody>
      </p:sp>
      <p:sp>
        <p:nvSpPr>
          <p:cNvPr id="4" name="">
            <a:extLst xmlns:a="http://schemas.openxmlformats.org/drawingml/2006/main">
              <a:ext uri="{FF2B5EF4-FFF2-40B4-BE49-F238E27FC236}">
                <a16:creationId xmlns:a16="http://schemas.microsoft.com/office/drawing/2014/main" id="{09B3B39E-2C22-4AAE-A2CB-34EEA78A7C79}"/>
              </a:ext>
            </a:extLst>
          </p:cNvPr>
          <p:cNvSpPr>
            <a:spLocks xmlns:a="http://schemas.openxmlformats.org/drawingml/2006/main" noGrp="1"/>
          </p:cNvSpPr>
          <p:nvPr/>
        </p:nvSpPr>
        <p:spPr>
          <a:xfrm xmlns:a="http://schemas.openxmlformats.org/drawingml/2006/main">
            <a:off x="609600" y="37052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Pedestrians and outdoor users are the intended beneficiaries. Their exposure and needs have not been measured.</a:t>
            </a:r>
          </a:p>
        </p:txBody>
      </p:sp>
      <p:sp>
        <p:nvSpPr>
          <p:cNvPr id="5" name="">
            <a:extLst xmlns:a="http://schemas.openxmlformats.org/drawingml/2006/main">
              <a:ext uri="{FF2B5EF4-FFF2-40B4-BE49-F238E27FC236}">
                <a16:creationId xmlns:a16="http://schemas.microsoft.com/office/drawing/2014/main" id="{B9B4ACEC-2743-4AA1-B031-94871ACA1E22}"/>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The prototype supports investigation; it does not establish heat-health risk.</a:t>
            </a:r>
          </a:p>
        </p:txBody>
      </p:sp>
    </p:spTree>
    <p:extLst>
      <p:ext uri="{BB962C8B-B14F-4D97-AF65-F5344CB8AC3E}">
        <p14:creationId xmlns:p14="http://schemas.microsoft.com/office/powerpoint/2010/main" val="123264393"/>
      </p:ext>
    </p:extLst>
  </p:cSld>
</p:sld>
</file>

<file path=ppt/slides/slide3.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085BC49-9969-40E9-808D-5D6FD016AFFE}"/>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Planning use case</a:t>
            </a:r>
          </a:p>
        </p:txBody>
      </p:sp>
      <p:sp>
        <p:nvSpPr>
          <p:cNvPr id="2" name="">
            <a:extLst xmlns:a="http://schemas.openxmlformats.org/drawingml/2006/main">
              <a:ext uri="{FF2B5EF4-FFF2-40B4-BE49-F238E27FC236}">
                <a16:creationId xmlns:a16="http://schemas.microsoft.com/office/drawing/2014/main" id="{3A359118-92AF-4B22-904B-CAA169F9D0B3}"/>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A planner needs a shortlist of places to inspect for shade or planting.</a:t>
            </a:r>
          </a:p>
        </p:txBody>
      </p:sp>
      <p:sp>
        <p:nvSpPr>
          <p:cNvPr id="3" name="">
            <a:extLst xmlns:a="http://schemas.openxmlformats.org/drawingml/2006/main">
              <a:ext uri="{FF2B5EF4-FFF2-40B4-BE49-F238E27FC236}">
                <a16:creationId xmlns:a16="http://schemas.microsoft.com/office/drawing/2014/main" id="{AF64C600-6FC4-45F8-814E-363FFAAB99CB}"/>
              </a:ext>
            </a:extLst>
          </p:cNvPr>
          <p:cNvSpPr>
            <a:spLocks xmlns:a="http://schemas.openxmlformats.org/drawingml/2006/main" noGrp="1"/>
          </p:cNvSpPr>
          <p:nvPr/>
        </p:nvSpPr>
        <p:spPr>
          <a:xfrm xmlns:a="http://schemas.openxmlformats.org/drawingml/2006/main">
            <a:off x="609600" y="26384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The map shows observed surface temperature, green signal and mapped buildings for each cell.</a:t>
            </a:r>
          </a:p>
        </p:txBody>
      </p:sp>
      <p:sp>
        <p:nvSpPr>
          <p:cNvPr id="4" name="">
            <a:extLst xmlns:a="http://schemas.openxmlformats.org/drawingml/2006/main">
              <a:ext uri="{FF2B5EF4-FFF2-40B4-BE49-F238E27FC236}">
                <a16:creationId xmlns:a16="http://schemas.microsoft.com/office/drawing/2014/main" id="{04536095-54F1-4BE3-BD8A-DEC1BD27E3BB}"/>
              </a:ext>
            </a:extLst>
          </p:cNvPr>
          <p:cNvSpPr>
            <a:spLocks xmlns:a="http://schemas.openxmlformats.org/drawingml/2006/main" noGrp="1"/>
          </p:cNvSpPr>
          <p:nvPr/>
        </p:nvSpPr>
        <p:spPr>
          <a:xfrm xmlns:a="http://schemas.openxmlformats.org/drawingml/2006/main">
            <a:off x="609600" y="37052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A site visit must establish pedestrian activity, existing shade, ownership and feasibility.</a:t>
            </a:r>
          </a:p>
        </p:txBody>
      </p:sp>
      <p:sp>
        <p:nvSpPr>
          <p:cNvPr id="5" name="">
            <a:extLst xmlns:a="http://schemas.openxmlformats.org/drawingml/2006/main">
              <a:ext uri="{FF2B5EF4-FFF2-40B4-BE49-F238E27FC236}">
                <a16:creationId xmlns:a16="http://schemas.microsoft.com/office/drawing/2014/main" id="{873F3366-73FA-4B63-990C-8214100101AA}"/>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No user interview, measured time saving or cooling benefit is claimed.</a:t>
            </a:r>
          </a:p>
        </p:txBody>
      </p:sp>
    </p:spTree>
    <p:extLst>
      <p:ext uri="{BB962C8B-B14F-4D97-AF65-F5344CB8AC3E}">
        <p14:creationId xmlns:p14="http://schemas.microsoft.com/office/powerpoint/2010/main" val="1707656201"/>
      </p:ext>
    </p:extLst>
  </p:cSld>
</p:sld>
</file>

<file path=ppt/slides/slide4.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26FE1B-01C8-4C80-98AF-F98D46C6E2A1}"/>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Open satellite data and mapped context</a:t>
            </a:r>
          </a:p>
        </p:txBody>
      </p:sp>
      <p:sp>
        <p:nvSpPr>
          <p:cNvPr id="2" name="">
            <a:extLst xmlns:a="http://schemas.openxmlformats.org/drawingml/2006/main">
              <a:ext uri="{FF2B5EF4-FFF2-40B4-BE49-F238E27FC236}">
                <a16:creationId xmlns:a16="http://schemas.microsoft.com/office/drawing/2014/main" id="{87DBE71C-7D94-406D-983A-2167AA4925A5}"/>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Sentinel-2: green-pixel indicators from 5, 15 and 30 September 2026.</a:t>
            </a:r>
          </a:p>
        </p:txBody>
      </p:sp>
      <p:sp>
        <p:nvSpPr>
          <p:cNvPr id="3" name="">
            <a:extLst xmlns:a="http://schemas.openxmlformats.org/drawingml/2006/main">
              <a:ext uri="{FF2B5EF4-FFF2-40B4-BE49-F238E27FC236}">
                <a16:creationId xmlns:a16="http://schemas.microsoft.com/office/drawing/2014/main" id="{48F6338E-F95B-49D3-BC70-9425600718D3}"/>
              </a:ext>
            </a:extLst>
          </p:cNvPr>
          <p:cNvSpPr>
            <a:spLocks xmlns:a="http://schemas.openxmlformats.org/drawingml/2006/main" noGrp="1"/>
          </p:cNvSpPr>
          <p:nvPr/>
        </p:nvSpPr>
        <p:spPr>
          <a:xfrm xmlns:a="http://schemas.openxmlformats.org/drawingml/2006/main">
            <a:off x="609600" y="25241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Landsat: surface temperature from 14 and 30 September. The 6 September scene fails coverage QA.</a:t>
            </a:r>
          </a:p>
        </p:txBody>
      </p:sp>
      <p:sp>
        <p:nvSpPr>
          <p:cNvPr id="4" name="">
            <a:extLst xmlns:a="http://schemas.openxmlformats.org/drawingml/2006/main">
              <a:ext uri="{FF2B5EF4-FFF2-40B4-BE49-F238E27FC236}">
                <a16:creationId xmlns:a16="http://schemas.microsoft.com/office/drawing/2014/main" id="{1F193183-5C77-40D3-AE5F-EBA87BBBD4F0}"/>
              </a:ext>
            </a:extLst>
          </p:cNvPr>
          <p:cNvSpPr>
            <a:spLocks xmlns:a="http://schemas.openxmlformats.org/drawingml/2006/main" noGrp="1"/>
          </p:cNvSpPr>
          <p:nvPr/>
        </p:nvSpPr>
        <p:spPr>
          <a:xfrm xmlns:a="http://schemas.openxmlformats.org/drawingml/2006/main">
            <a:off x="609600" y="3476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WorldCover 2021: historical land-cover context. OpenStreetMap: contributed building footprints downloaded 5 October.</a:t>
            </a:r>
          </a:p>
        </p:txBody>
      </p:sp>
      <p:sp>
        <p:nvSpPr>
          <p:cNvPr id="5" name="">
            <a:extLst xmlns:a="http://schemas.openxmlformats.org/drawingml/2006/main">
              <a:ext uri="{FF2B5EF4-FFF2-40B4-BE49-F238E27FC236}">
                <a16:creationId xmlns:a16="http://schemas.microsoft.com/office/drawing/2014/main" id="{F28C86CB-5354-4C67-AB73-A49EF3F151FA}"/>
              </a:ext>
            </a:extLst>
          </p:cNvPr>
          <p:cNvSpPr>
            <a:spLocks xmlns:a="http://schemas.openxmlformats.org/drawingml/2006/main" noGrp="1"/>
          </p:cNvSpPr>
          <p:nvPr/>
        </p:nvSpPr>
        <p:spPr>
          <a:xfrm xmlns:a="http://schemas.openxmlformats.org/drawingml/2006/main">
            <a:off x="609600" y="44291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No hyperspectral, 813 or proprietary VHR data are used.</a:t>
            </a:r>
          </a:p>
        </p:txBody>
      </p:sp>
      <p:sp>
        <p:nvSpPr>
          <p:cNvPr id="6" name="">
            <a:extLst xmlns:a="http://schemas.openxmlformats.org/drawingml/2006/main">
              <a:ext uri="{FF2B5EF4-FFF2-40B4-BE49-F238E27FC236}">
                <a16:creationId xmlns:a16="http://schemas.microsoft.com/office/drawing/2014/main" id="{DD965E40-13F2-4856-AFE5-7BD5F5E64E5A}"/>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Thermal native detail is about 100 m, delivered on a 30 m grid. We report 300 m cells.</a:t>
            </a:r>
          </a:p>
        </p:txBody>
      </p:sp>
    </p:spTree>
    <p:extLst>
      <p:ext uri="{BB962C8B-B14F-4D97-AF65-F5344CB8AC3E}">
        <p14:creationId xmlns:p14="http://schemas.microsoft.com/office/powerpoint/2010/main" val="1485229939"/>
      </p:ext>
    </p:extLst>
  </p:cSld>
</p:sld>
</file>

<file path=ppt/slides/slide5.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cxnSp>
        <p:nvCxnSpPr>
          <p:cNvPr id="17" name=""/>
          <p:cNvCxnSpPr>
            <a:stCxn xmlns:a="http://schemas.openxmlformats.org/drawingml/2006/main" id="8" idx="1"/>
            <a:endCxn xmlns:a="http://schemas.openxmlformats.org/drawingml/2006/main" id="10" idx="3"/>
          </p:cNvCxnSpPr>
          <p:nvPr/>
        </p:nvCxnSpPr>
        <p:spPr>
          <a:xfrm xmlns:a="http://schemas.openxmlformats.org/drawingml/2006/main" flipH="1">
            <a:off x="7667625" y="4714875"/>
            <a:ext cx="771525" cy="0"/>
          </a:xfrm>
          <a:prstGeom xmlns:a="http://schemas.openxmlformats.org/drawingml/2006/main" prst="straightConnector1">
            <a:avLst/>
          </a:prstGeom>
          <a:ln xmlns:a="http://schemas.openxmlformats.org/drawingml/2006/main" w="28575">
            <a:solidFill>
              <a:srgbClr val="163D46"/>
            </a:solidFill>
            <a:tailEnd type="arrow" w="med" len="med"/>
          </a:ln>
        </p:spPr>
      </p:cxnSp>
      <p:cxnSp>
        <p:nvCxnSpPr>
          <p:cNvPr id="18" name=""/>
          <p:cNvCxnSpPr>
            <a:stCxn xmlns:a="http://schemas.openxmlformats.org/drawingml/2006/main" id="6" idx="2"/>
            <a:endCxn xmlns:a="http://schemas.openxmlformats.org/drawingml/2006/main" id="8" idx="0"/>
          </p:cNvCxnSpPr>
          <p:nvPr/>
        </p:nvCxnSpPr>
        <p:spPr>
          <a:xfrm xmlns:a="http://schemas.openxmlformats.org/drawingml/2006/main">
            <a:off x="10010775" y="3238500"/>
            <a:ext cx="0" cy="714375"/>
          </a:xfrm>
          <a:prstGeom xmlns:a="http://schemas.openxmlformats.org/drawingml/2006/main" prst="straightConnector1">
            <a:avLst/>
          </a:prstGeom>
          <a:ln xmlns:a="http://schemas.openxmlformats.org/drawingml/2006/main" w="28575">
            <a:solidFill>
              <a:srgbClr val="163D46"/>
            </a:solidFill>
            <a:tailEnd type="arrow" w="med" len="med"/>
          </a:ln>
        </p:spPr>
      </p:cxnSp>
      <p:cxnSp>
        <p:nvCxnSpPr>
          <p:cNvPr id="19" name=""/>
          <p:cNvCxnSpPr>
            <a:stCxn xmlns:a="http://schemas.openxmlformats.org/drawingml/2006/main" id="4" idx="3"/>
            <a:endCxn xmlns:a="http://schemas.openxmlformats.org/drawingml/2006/main" id="6" idx="1"/>
          </p:cNvCxnSpPr>
          <p:nvPr/>
        </p:nvCxnSpPr>
        <p:spPr>
          <a:xfrm xmlns:a="http://schemas.openxmlformats.org/drawingml/2006/main">
            <a:off x="7667625" y="2476500"/>
            <a:ext cx="771525" cy="0"/>
          </a:xfrm>
          <a:prstGeom xmlns:a="http://schemas.openxmlformats.org/drawingml/2006/main" prst="straightConnector1">
            <a:avLst/>
          </a:prstGeom>
          <a:ln xmlns:a="http://schemas.openxmlformats.org/drawingml/2006/main" w="28575">
            <a:solidFill>
              <a:srgbClr val="163D46"/>
            </a:solidFill>
            <a:tailEnd type="arrow" w="med" len="med"/>
          </a:ln>
        </p:spPr>
      </p:cxnSp>
      <p:cxnSp>
        <p:nvCxnSpPr>
          <p:cNvPr id="20" name=""/>
          <p:cNvCxnSpPr>
            <a:stCxn xmlns:a="http://schemas.openxmlformats.org/drawingml/2006/main" id="2" idx="3"/>
            <a:endCxn xmlns:a="http://schemas.openxmlformats.org/drawingml/2006/main" id="4" idx="1"/>
          </p:cNvCxnSpPr>
          <p:nvPr/>
        </p:nvCxnSpPr>
        <p:spPr>
          <a:xfrm xmlns:a="http://schemas.openxmlformats.org/drawingml/2006/main">
            <a:off x="3752850" y="2476500"/>
            <a:ext cx="771525" cy="0"/>
          </a:xfrm>
          <a:prstGeom xmlns:a="http://schemas.openxmlformats.org/drawingml/2006/main" prst="straightConnector1">
            <a:avLst/>
          </a:prstGeom>
          <a:ln xmlns:a="http://schemas.openxmlformats.org/drawingml/2006/main" w="28575">
            <a:solidFill>
              <a:srgbClr val="163D46"/>
            </a:solidFill>
            <a:tailEnd type="arrow" w="med" len="med"/>
          </a:ln>
        </p:spPr>
      </p:cxnSp>
      <p:sp>
        <p:nvSpPr>
          <p:cNvPr id="21" name="">
            <a:extLst xmlns:a="http://schemas.openxmlformats.org/drawingml/2006/main">
              <a:ext uri="{FF2B5EF4-FFF2-40B4-BE49-F238E27FC236}">
                <a16:creationId xmlns:a16="http://schemas.microsoft.com/office/drawing/2014/main" id="{0A65A408-0BBB-4C91-84E4-ABC9D3FE0367}"/>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From source crops to an inspectable shortlist</a:t>
            </a:r>
          </a:p>
        </p:txBody>
      </p:sp>
      <p:sp>
        <p:nvSpPr>
          <p:cNvPr id="2" name="">
            <a:extLst xmlns:a="http://schemas.openxmlformats.org/drawingml/2006/main">
              <a:ext uri="{FF2B5EF4-FFF2-40B4-BE49-F238E27FC236}">
                <a16:creationId xmlns:a16="http://schemas.microsoft.com/office/drawing/2014/main" id="{180635FB-A80F-47DA-9A6D-393D872F26DC}"/>
              </a:ext>
            </a:extLst>
          </p:cNvPr>
          <p:cNvSpPr>
            <a:spLocks xmlns:a="http://schemas.openxmlformats.org/drawingml/2006/main" noGrp="1"/>
          </p:cNvSpPr>
          <p:nvPr/>
        </p:nvSpPr>
        <p:spPr>
          <a:xfrm xmlns:a="http://schemas.openxmlformats.org/drawingml/2006/main">
            <a:off x="609600" y="1714500"/>
            <a:ext cx="3143250" cy="1524000"/>
          </a:xfrm>
          <a:prstGeom xmlns:a="http://schemas.openxmlformats.org/drawingml/2006/main" prst="rect">
            <a:avLst/>
          </a:prstGeom>
          <a:solidFill xmlns:a="http://schemas.openxmlformats.org/drawingml/2006/main">
            <a:srgbClr val="E4EBE8"/>
          </a:solidFill>
          <a:ln xmlns:a="http://schemas.openxmlformats.org/drawingml/2006/main" w="9525">
            <a:solidFill>
              <a:srgbClr val="75908A"/>
            </a:solidFill>
          </a:ln>
        </p:spPr>
      </p:sp>
      <p:sp>
        <p:nvSpPr>
          <p:cNvPr id="3" name="">
            <a:extLst xmlns:a="http://schemas.openxmlformats.org/drawingml/2006/main">
              <a:ext uri="{FF2B5EF4-FFF2-40B4-BE49-F238E27FC236}">
                <a16:creationId xmlns:a16="http://schemas.microsoft.com/office/drawing/2014/main" id="{7C3703D1-F3BD-4BFD-BB90-0BABA9EF669D}"/>
              </a:ext>
            </a:extLst>
          </p:cNvPr>
          <p:cNvSpPr>
            <a:spLocks xmlns:a="http://schemas.openxmlformats.org/drawingml/2006/main" noGrp="1"/>
          </p:cNvSpPr>
          <p:nvPr/>
        </p:nvSpPr>
        <p:spPr>
          <a:xfrm xmlns:a="http://schemas.openxmlformats.org/drawingml/2006/main">
            <a:off x="781050" y="1914525"/>
            <a:ext cx="28003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Packaged inputs</a:t>
            </a:r>
          </a:p>
          <a:p xmlns:a="http://schemas.openxmlformats.org/drawingml/2006/main">
            <a:pPr>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Satellite crops</a:t>
            </a:r>
          </a:p>
          <a:p xmlns:a="http://schemas.openxmlformats.org/drawingml/2006/main">
            <a:pPr>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 mapped context</a:t>
            </a:r>
          </a:p>
        </p:txBody>
      </p:sp>
      <p:sp>
        <p:nvSpPr>
          <p:cNvPr id="4" name="">
            <a:extLst xmlns:a="http://schemas.openxmlformats.org/drawingml/2006/main">
              <a:ext uri="{FF2B5EF4-FFF2-40B4-BE49-F238E27FC236}">
                <a16:creationId xmlns:a16="http://schemas.microsoft.com/office/drawing/2014/main" id="{E7486547-BB62-462A-889B-AC9DCE791F6A}"/>
              </a:ext>
            </a:extLst>
          </p:cNvPr>
          <p:cNvSpPr>
            <a:spLocks xmlns:a="http://schemas.openxmlformats.org/drawingml/2006/main" noGrp="1"/>
          </p:cNvSpPr>
          <p:nvPr/>
        </p:nvSpPr>
        <p:spPr>
          <a:xfrm xmlns:a="http://schemas.openxmlformats.org/drawingml/2006/main">
            <a:off x="4524375" y="1714500"/>
            <a:ext cx="3143250" cy="1524000"/>
          </a:xfrm>
          <a:prstGeom xmlns:a="http://schemas.openxmlformats.org/drawingml/2006/main" prst="rect">
            <a:avLst/>
          </a:prstGeom>
          <a:solidFill xmlns:a="http://schemas.openxmlformats.org/drawingml/2006/main">
            <a:srgbClr val="E4EBE8"/>
          </a:solidFill>
          <a:ln xmlns:a="http://schemas.openxmlformats.org/drawingml/2006/main" w="9525">
            <a:solidFill>
              <a:srgbClr val="75908A"/>
            </a:solidFill>
          </a:ln>
        </p:spPr>
      </p:sp>
      <p:sp>
        <p:nvSpPr>
          <p:cNvPr id="5" name="">
            <a:extLst xmlns:a="http://schemas.openxmlformats.org/drawingml/2006/main">
              <a:ext uri="{FF2B5EF4-FFF2-40B4-BE49-F238E27FC236}">
                <a16:creationId xmlns:a16="http://schemas.microsoft.com/office/drawing/2014/main" id="{D08900FD-40F0-457F-9B3C-AFCEA944BBC7}"/>
              </a:ext>
            </a:extLst>
          </p:cNvPr>
          <p:cNvSpPr>
            <a:spLocks xmlns:a="http://schemas.openxmlformats.org/drawingml/2006/main" noGrp="1"/>
          </p:cNvSpPr>
          <p:nvPr/>
        </p:nvSpPr>
        <p:spPr>
          <a:xfrm xmlns:a="http://schemas.openxmlformats.org/drawingml/2006/main">
            <a:off x="4695825" y="1914525"/>
            <a:ext cx="28003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Quality screening</a:t>
            </a:r>
          </a:p>
          <a:p xmlns:a="http://schemas.openxmlformats.org/drawingml/2006/main">
            <a:pPr>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Cloud, coast and</a:t>
            </a:r>
          </a:p>
          <a:p xmlns:a="http://schemas.openxmlformats.org/drawingml/2006/main">
            <a:pPr>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common support</a:t>
            </a:r>
          </a:p>
        </p:txBody>
      </p:sp>
      <p:sp>
        <p:nvSpPr>
          <p:cNvPr id="6" name="">
            <a:extLst xmlns:a="http://schemas.openxmlformats.org/drawingml/2006/main">
              <a:ext uri="{FF2B5EF4-FFF2-40B4-BE49-F238E27FC236}">
                <a16:creationId xmlns:a16="http://schemas.microsoft.com/office/drawing/2014/main" id="{B0892A10-4D83-43E1-AF1D-8FF269C4C9B3}"/>
              </a:ext>
            </a:extLst>
          </p:cNvPr>
          <p:cNvSpPr>
            <a:spLocks xmlns:a="http://schemas.openxmlformats.org/drawingml/2006/main" noGrp="1"/>
          </p:cNvSpPr>
          <p:nvPr/>
        </p:nvSpPr>
        <p:spPr>
          <a:xfrm xmlns:a="http://schemas.openxmlformats.org/drawingml/2006/main">
            <a:off x="8439150" y="1714500"/>
            <a:ext cx="3143250" cy="1524000"/>
          </a:xfrm>
          <a:prstGeom xmlns:a="http://schemas.openxmlformats.org/drawingml/2006/main" prst="rect">
            <a:avLst/>
          </a:prstGeom>
          <a:solidFill xmlns:a="http://schemas.openxmlformats.org/drawingml/2006/main">
            <a:srgbClr val="E4EBE8"/>
          </a:solidFill>
          <a:ln xmlns:a="http://schemas.openxmlformats.org/drawingml/2006/main" w="9525">
            <a:solidFill>
              <a:srgbClr val="75908A"/>
            </a:solidFill>
          </a:ln>
        </p:spPr>
      </p:sp>
      <p:sp>
        <p:nvSpPr>
          <p:cNvPr id="7" name="">
            <a:extLst xmlns:a="http://schemas.openxmlformats.org/drawingml/2006/main">
              <a:ext uri="{FF2B5EF4-FFF2-40B4-BE49-F238E27FC236}">
                <a16:creationId xmlns:a16="http://schemas.microsoft.com/office/drawing/2014/main" id="{40FEC3A7-31BF-4642-8D2B-C888F0DBF05A}"/>
              </a:ext>
            </a:extLst>
          </p:cNvPr>
          <p:cNvSpPr>
            <a:spLocks xmlns:a="http://schemas.openxmlformats.org/drawingml/2006/main" noGrp="1"/>
          </p:cNvSpPr>
          <p:nvPr/>
        </p:nvSpPr>
        <p:spPr>
          <a:xfrm xmlns:a="http://schemas.openxmlformats.org/drawingml/2006/main">
            <a:off x="8610600" y="1914525"/>
            <a:ext cx="28003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300 m indicators</a:t>
            </a:r>
          </a:p>
          <a:p xmlns:a="http://schemas.openxmlformats.org/drawingml/2006/main">
            <a:pPr>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Temperature, green</a:t>
            </a:r>
          </a:p>
          <a:p xmlns:a="http://schemas.openxmlformats.org/drawingml/2006/main">
            <a:pPr>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and buildings</a:t>
            </a:r>
          </a:p>
        </p:txBody>
      </p:sp>
      <p:sp>
        <p:nvSpPr>
          <p:cNvPr id="8" name="">
            <a:extLst xmlns:a="http://schemas.openxmlformats.org/drawingml/2006/main">
              <a:ext uri="{FF2B5EF4-FFF2-40B4-BE49-F238E27FC236}">
                <a16:creationId xmlns:a16="http://schemas.microsoft.com/office/drawing/2014/main" id="{2ECB88AD-7C3F-426B-84E8-73B370314E61}"/>
              </a:ext>
            </a:extLst>
          </p:cNvPr>
          <p:cNvSpPr>
            <a:spLocks xmlns:a="http://schemas.openxmlformats.org/drawingml/2006/main" noGrp="1"/>
          </p:cNvSpPr>
          <p:nvPr/>
        </p:nvSpPr>
        <p:spPr>
          <a:xfrm xmlns:a="http://schemas.openxmlformats.org/drawingml/2006/main">
            <a:off x="8439150" y="3952875"/>
            <a:ext cx="3143250" cy="1524000"/>
          </a:xfrm>
          <a:prstGeom xmlns:a="http://schemas.openxmlformats.org/drawingml/2006/main" prst="rect">
            <a:avLst/>
          </a:prstGeom>
          <a:solidFill xmlns:a="http://schemas.openxmlformats.org/drawingml/2006/main">
            <a:srgbClr val="E4EBE8"/>
          </a:solidFill>
          <a:ln xmlns:a="http://schemas.openxmlformats.org/drawingml/2006/main" w="9525">
            <a:solidFill>
              <a:srgbClr val="75908A"/>
            </a:solidFill>
          </a:ln>
        </p:spPr>
      </p:sp>
      <p:sp>
        <p:nvSpPr>
          <p:cNvPr id="9" name="">
            <a:extLst xmlns:a="http://schemas.openxmlformats.org/drawingml/2006/main">
              <a:ext uri="{FF2B5EF4-FFF2-40B4-BE49-F238E27FC236}">
                <a16:creationId xmlns:a16="http://schemas.microsoft.com/office/drawing/2014/main" id="{E2EA65C8-4035-429A-ADF3-86B7930742F3}"/>
              </a:ext>
            </a:extLst>
          </p:cNvPr>
          <p:cNvSpPr>
            <a:spLocks xmlns:a="http://schemas.openxmlformats.org/drawingml/2006/main" noGrp="1"/>
          </p:cNvSpPr>
          <p:nvPr/>
        </p:nvSpPr>
        <p:spPr>
          <a:xfrm xmlns:a="http://schemas.openxmlformats.org/drawingml/2006/main">
            <a:off x="8610600" y="4152900"/>
            <a:ext cx="28003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Relative ranking</a:t>
            </a:r>
          </a:p>
          <a:p xmlns:a="http://schemas.openxmlformats.org/drawingml/2006/main">
            <a:pPr>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Candidate rules</a:t>
            </a:r>
          </a:p>
          <a:p xmlns:a="http://schemas.openxmlformats.org/drawingml/2006/main">
            <a:pPr>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+ 13 scenarios</a:t>
            </a:r>
          </a:p>
        </p:txBody>
      </p:sp>
      <p:sp>
        <p:nvSpPr>
          <p:cNvPr id="10" name="">
            <a:extLst xmlns:a="http://schemas.openxmlformats.org/drawingml/2006/main">
              <a:ext uri="{FF2B5EF4-FFF2-40B4-BE49-F238E27FC236}">
                <a16:creationId xmlns:a16="http://schemas.microsoft.com/office/drawing/2014/main" id="{B890E0C1-80C5-495F-8ACD-083D03CDFD9D}"/>
              </a:ext>
            </a:extLst>
          </p:cNvPr>
          <p:cNvSpPr>
            <a:spLocks xmlns:a="http://schemas.openxmlformats.org/drawingml/2006/main" noGrp="1"/>
          </p:cNvSpPr>
          <p:nvPr/>
        </p:nvSpPr>
        <p:spPr>
          <a:xfrm xmlns:a="http://schemas.openxmlformats.org/drawingml/2006/main">
            <a:off x="4524375" y="3952875"/>
            <a:ext cx="3143250" cy="1524000"/>
          </a:xfrm>
          <a:prstGeom xmlns:a="http://schemas.openxmlformats.org/drawingml/2006/main" prst="rect">
            <a:avLst/>
          </a:prstGeom>
          <a:solidFill xmlns:a="http://schemas.openxmlformats.org/drawingml/2006/main">
            <a:srgbClr val="DCE9E1"/>
          </a:solidFill>
          <a:ln xmlns:a="http://schemas.openxmlformats.org/drawingml/2006/main" w="9525">
            <a:solidFill>
              <a:srgbClr val="75908A"/>
            </a:solidFill>
          </a:ln>
        </p:spPr>
      </p:sp>
      <p:sp>
        <p:nvSpPr>
          <p:cNvPr id="11" name="">
            <a:extLst xmlns:a="http://schemas.openxmlformats.org/drawingml/2006/main">
              <a:ext uri="{FF2B5EF4-FFF2-40B4-BE49-F238E27FC236}">
                <a16:creationId xmlns:a16="http://schemas.microsoft.com/office/drawing/2014/main" id="{D0411175-BF19-4E30-A6FB-A77041F00084}"/>
              </a:ext>
            </a:extLst>
          </p:cNvPr>
          <p:cNvSpPr>
            <a:spLocks xmlns:a="http://schemas.openxmlformats.org/drawingml/2006/main" noGrp="1"/>
          </p:cNvSpPr>
          <p:nvPr/>
        </p:nvSpPr>
        <p:spPr>
          <a:xfrm xmlns:a="http://schemas.openxmlformats.org/drawingml/2006/main">
            <a:off x="4695825" y="4152900"/>
            <a:ext cx="28003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63D46"/>
                </a:solidFill>
                <a:latin typeface="Bitstream Charter"/>
                <a:ea typeface="Bitstream Charter"/>
                <a:cs typeface="Bitstream Charter"/>
              </a:defRPr>
            </a:pPr>
            <a:r>
              <a:rPr sz="2175" b="1">
                <a:solidFill>
                  <a:srgbClr val="163D46"/>
                </a:solidFill>
                <a:latin typeface="Bitstream Charter"/>
                <a:ea typeface="Bitstream Charter"/>
                <a:cs typeface="Bitstream Charter"/>
              </a:rPr>
              <a:t>Portable map</a:t>
            </a:r>
          </a:p>
          <a:p xmlns:a="http://schemas.openxmlformats.org/drawingml/2006/main">
            <a:pPr>
              <a:defRPr sz="2175" b="1">
                <a:solidFill>
                  <a:srgbClr val="163D46"/>
                </a:solidFill>
                <a:latin typeface="Bitstream Charter"/>
                <a:ea typeface="Bitstream Charter"/>
                <a:cs typeface="Bitstream Charter"/>
              </a:defRPr>
            </a:pPr>
            <a:r>
              <a:rPr sz="2175" b="1">
                <a:solidFill>
                  <a:srgbClr val="163D46"/>
                </a:solidFill>
                <a:latin typeface="Bitstream Charter"/>
                <a:ea typeface="Bitstream Charter"/>
                <a:cs typeface="Bitstream Charter"/>
              </a:rPr>
              <a:t>Inspect indicators</a:t>
            </a:r>
          </a:p>
          <a:p xmlns:a="http://schemas.openxmlformats.org/drawingml/2006/main">
            <a:pPr>
              <a:defRPr sz="2175" b="1">
                <a:solidFill>
                  <a:srgbClr val="163D46"/>
                </a:solidFill>
                <a:latin typeface="Bitstream Charter"/>
                <a:ea typeface="Bitstream Charter"/>
                <a:cs typeface="Bitstream Charter"/>
              </a:defRPr>
            </a:pPr>
            <a:r>
              <a:rPr sz="2175" b="1">
                <a:solidFill>
                  <a:srgbClr val="163D46"/>
                </a:solidFill>
                <a:latin typeface="Bitstream Charter"/>
                <a:ea typeface="Bitstream Charter"/>
                <a:cs typeface="Bitstream Charter"/>
              </a:rPr>
              <a:t>and visit candidates</a:t>
            </a:r>
          </a:p>
        </p:txBody>
      </p:sp>
      <p:sp>
        <p:nvSpPr>
          <p:cNvPr id="16" name="">
            <a:extLst xmlns:a="http://schemas.openxmlformats.org/drawingml/2006/main">
              <a:ext uri="{FF2B5EF4-FFF2-40B4-BE49-F238E27FC236}">
                <a16:creationId xmlns:a16="http://schemas.microsoft.com/office/drawing/2014/main" id="{92CC83BC-FD77-44C4-84D6-DA8B3C94F404}"/>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Deterministic processing; upstream WorldCover uses ML. Our own segmentation model is future work.</a:t>
            </a:r>
          </a:p>
        </p:txBody>
      </p:sp>
    </p:spTree>
    <p:extLst>
      <p:ext uri="{BB962C8B-B14F-4D97-AF65-F5344CB8AC3E}">
        <p14:creationId xmlns:p14="http://schemas.microsoft.com/office/powerpoint/2010/main" val="1986723221"/>
      </p:ext>
    </p:extLst>
  </p:cSld>
</p:sld>
</file>

<file path=ppt/slides/slide6.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E87E6321-8638-4D7C-953B-7F941BB1F070}"/>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Al Khor study window and shortlist</a:t>
            </a:r>
          </a:p>
        </p:txBody>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7d4ad72d3ee4464c"/>
          <a:stretch xmlns:a="http://schemas.openxmlformats.org/drawingml/2006/main"/>
        </p:blipFill>
        <p:spPr>
          <a:xfrm xmlns:a="http://schemas.openxmlformats.org/drawingml/2006/main">
            <a:off x="609600" y="1415415"/>
            <a:ext cx="10972800" cy="438912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3FAD36E-A403-4A2E-BE31-F58574A68947}"/>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1,111 observed cells and 373 screened urban candidates. Analyst-defined window, approximately 116 km².</a:t>
            </a:r>
          </a:p>
        </p:txBody>
      </p:sp>
    </p:spTree>
    <p:extLst>
      <p:ext uri="{BB962C8B-B14F-4D97-AF65-F5344CB8AC3E}">
        <p14:creationId xmlns:p14="http://schemas.microsoft.com/office/powerpoint/2010/main" val="1902352318"/>
      </p:ext>
    </p:extLst>
  </p:cSld>
</p:sld>
</file>

<file path=ppt/slides/slide7.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D9A82381-3225-4921-AE1B-79BAA4D7359F}"/>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Matched surface-temperature observations</a:t>
            </a:r>
          </a:p>
        </p:txBody>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d7fb2328741e4002"/>
          <a:stretch xmlns:a="http://schemas.openxmlformats.org/drawingml/2006/main"/>
        </p:blipFill>
        <p:spPr>
          <a:xfrm xmlns:a="http://schemas.openxmlformats.org/drawingml/2006/main">
            <a:off x="695325" y="1295400"/>
            <a:ext cx="10801350" cy="46291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8132EB1-2FEA-4BE9-9E16-076DA8992475}"/>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94.4379 km² of common inland sample footprints across the broad study window.</a:t>
            </a:r>
          </a:p>
        </p:txBody>
      </p:sp>
    </p:spTree>
    <p:extLst>
      <p:ext uri="{BB962C8B-B14F-4D97-AF65-F5344CB8AC3E}">
        <p14:creationId xmlns:p14="http://schemas.microsoft.com/office/powerpoint/2010/main" val="620023111"/>
      </p:ext>
    </p:extLst>
  </p:cSld>
</p:sld>
</file>

<file path=ppt/slides/slide8.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74DF5F2-6F18-4CFA-95D3-29DA618477EF}"/>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Leading candidates change with the settings</a:t>
            </a:r>
          </a:p>
        </p:txBody>
      </p:sp>
      <p:graphicFrame>
        <p:nvGraphicFramePr>
          <p:cNvPr id="7" name=""/>
          <p:cNvGraphicFramePr/>
          <p:nvPr/>
        </p:nvGraphicFramePr>
        <p:xfrm>
          <a:off xmlns:a="http://schemas.openxmlformats.org/drawingml/2006/main" x="609600" y="1428750"/>
          <a:ext xmlns:a="http://schemas.openxmlformats.org/drawingml/2006/main" cx="10972800" cy="2362200"/>
        </p:xfrm>
        <a:graphic xmlns:a="http://schemas.openxmlformats.org/drawingml/2006/main">
          <a:graphicData uri="http://schemas.openxmlformats.org/drawingml/2006/table">
            <a:tbl>
              <a:tblPr/>
              <a:tblGrid>
                <a:gridCol w="2000250"/>
                <a:gridCol w="2095500"/>
                <a:gridCol w="1905000"/>
                <a:gridCol w="2286000"/>
                <a:gridCol w="2686050"/>
              </a:tblGrid>
              <a:tr h="590550">
                <a:tc>
                  <a:txBody>
                    <a:bodyPr/>
                    <a:lstStyle/>
                    <a:p>
                      <a:r>
                        <a:rPr sz="2025" b="1">
                          <a:solidFill>
                            <a:srgbClr val="FFFFFF"/>
                          </a:solidFill>
                          <a:latin typeface="Bitstream Charter"/>
                          <a:ea typeface="Bitstream Charter"/>
                          <a:cs typeface="Bitstream Charter"/>
                        </a:rPr>
                        <a:t>Candidate</a:t>
                      </a:r>
                    </a:p>
                  </a:txBody>
                  <a:tcPr marL="114300" marR="114300" marT="95250" marB="95250">
                    <a:solidFill>
                      <a:srgbClr val="163D46"/>
                    </a:solidFill>
                  </a:tcPr>
                </a:tc>
                <a:tc>
                  <a:txBody>
                    <a:bodyPr/>
                    <a:lstStyle/>
                    <a:p>
                      <a:r>
                        <a:rPr sz="2025" b="1">
                          <a:solidFill>
                            <a:srgbClr val="FFFFFF"/>
                          </a:solidFill>
                          <a:latin typeface="Bitstream Charter"/>
                          <a:ea typeface="Bitstream Charter"/>
                          <a:cs typeface="Bitstream Charter"/>
                        </a:rPr>
                        <a:t>Surface °C*</a:t>
                      </a:r>
                    </a:p>
                  </a:txBody>
                  <a:tcPr marL="114300" marR="114300" marT="95250" marB="95250">
                    <a:solidFill>
                      <a:srgbClr val="163D46"/>
                    </a:solidFill>
                  </a:tcPr>
                </a:tc>
                <a:tc>
                  <a:txBody>
                    <a:bodyPr/>
                    <a:lstStyle/>
                    <a:p>
                      <a:r>
                        <a:rPr sz="2025" b="1">
                          <a:solidFill>
                            <a:srgbClr val="FFFFFF"/>
                          </a:solidFill>
                          <a:latin typeface="Bitstream Charter"/>
                          <a:ea typeface="Bitstream Charter"/>
                          <a:cs typeface="Bitstream Charter"/>
                        </a:rPr>
                        <a:t>Green %*</a:t>
                      </a:r>
                    </a:p>
                  </a:txBody>
                  <a:tcPr marL="114300" marR="114300" marT="95250" marB="95250">
                    <a:solidFill>
                      <a:srgbClr val="163D46"/>
                    </a:solidFill>
                  </a:tcPr>
                </a:tc>
                <a:tc>
                  <a:txBody>
                    <a:bodyPr/>
                    <a:lstStyle/>
                    <a:p>
                      <a:r>
                        <a:rPr sz="2025" b="1">
                          <a:solidFill>
                            <a:srgbClr val="FFFFFF"/>
                          </a:solidFill>
                          <a:latin typeface="Bitstream Charter"/>
                          <a:ea typeface="Bitstream Charter"/>
                          <a:cs typeface="Bitstream Charter"/>
                        </a:rPr>
                        <a:t>Buildings %</a:t>
                      </a:r>
                    </a:p>
                  </a:txBody>
                  <a:tcPr marL="114300" marR="114300" marT="95250" marB="95250">
                    <a:solidFill>
                      <a:srgbClr val="163D46"/>
                    </a:solidFill>
                  </a:tcPr>
                </a:tc>
                <a:tc>
                  <a:txBody>
                    <a:bodyPr/>
                    <a:lstStyle/>
                    <a:p>
                      <a:r>
                        <a:rPr sz="2025" b="1">
                          <a:solidFill>
                            <a:srgbClr val="FFFFFF"/>
                          </a:solidFill>
                          <a:latin typeface="Bitstream Charter"/>
                          <a:ea typeface="Bitstream Charter"/>
                          <a:cs typeface="Bitstream Charter"/>
                        </a:rPr>
                        <a:t>Rank range</a:t>
                      </a:r>
                    </a:p>
                  </a:txBody>
                  <a:tcPr marL="114300" marR="114300" marT="95250" marB="95250">
                    <a:solidFill>
                      <a:srgbClr val="163D46"/>
                    </a:solidFill>
                  </a:tcPr>
                </a:tc>
              </a:tr>
              <a:tr h="590550">
                <a:tc>
                  <a:txBody>
                    <a:bodyPr/>
                    <a:lstStyle/>
                    <a:p>
                      <a:r>
                        <a:rPr sz="2100">
                          <a:solidFill>
                            <a:srgbClr val="213846"/>
                          </a:solidFill>
                          <a:latin typeface="Bitstream Charter"/>
                          <a:ea typeface="Bitstream Charter"/>
                          <a:cs typeface="Bitstream Charter"/>
                        </a:rPr>
                        <a:t>V04-23</a:t>
                      </a:r>
                    </a:p>
                  </a:txBody>
                  <a:tcPr marL="114300" marR="114300" marT="95250" marB="95250"/>
                </a:tc>
                <a:tc>
                  <a:txBody>
                    <a:bodyPr/>
                    <a:lstStyle/>
                    <a:p>
                      <a:r>
                        <a:rPr sz="2100">
                          <a:solidFill>
                            <a:srgbClr val="213846"/>
                          </a:solidFill>
                          <a:latin typeface="Bitstream Charter"/>
                          <a:ea typeface="Bitstream Charter"/>
                          <a:cs typeface="Bitstream Charter"/>
                        </a:rPr>
                        <a:t>50.4</a:t>
                      </a:r>
                    </a:p>
                  </a:txBody>
                  <a:tcPr marL="114300" marR="114300" marT="95250" marB="95250"/>
                </a:tc>
                <a:tc>
                  <a:txBody>
                    <a:bodyPr/>
                    <a:lstStyle/>
                    <a:p>
                      <a:r>
                        <a:rPr sz="2100">
                          <a:solidFill>
                            <a:srgbClr val="213846"/>
                          </a:solidFill>
                          <a:latin typeface="Bitstream Charter"/>
                          <a:ea typeface="Bitstream Charter"/>
                          <a:cs typeface="Bitstream Charter"/>
                        </a:rPr>
                        <a:t>0.0</a:t>
                      </a:r>
                    </a:p>
                  </a:txBody>
                  <a:tcPr marL="114300" marR="114300" marT="95250" marB="95250"/>
                </a:tc>
                <a:tc>
                  <a:txBody>
                    <a:bodyPr/>
                    <a:lstStyle/>
                    <a:p>
                      <a:r>
                        <a:rPr sz="2100">
                          <a:solidFill>
                            <a:srgbClr val="213846"/>
                          </a:solidFill>
                          <a:latin typeface="Bitstream Charter"/>
                          <a:ea typeface="Bitstream Charter"/>
                          <a:cs typeface="Bitstream Charter"/>
                        </a:rPr>
                        <a:t>2.3</a:t>
                      </a:r>
                    </a:p>
                  </a:txBody>
                  <a:tcPr marL="114300" marR="114300" marT="95250" marB="95250"/>
                </a:tc>
                <a:tc>
                  <a:txBody>
                    <a:bodyPr/>
                    <a:lstStyle/>
                    <a:p>
                      <a:r>
                        <a:rPr sz="2100">
                          <a:solidFill>
                            <a:srgbClr val="213846"/>
                          </a:solidFill>
                          <a:latin typeface="Bitstream Charter"/>
                          <a:ea typeface="Bitstream Charter"/>
                          <a:cs typeface="Bitstream Charter"/>
                        </a:rPr>
                        <a:t>1-14</a:t>
                      </a:r>
                    </a:p>
                  </a:txBody>
                  <a:tcPr marL="114300" marR="114300" marT="95250" marB="95250"/>
                </a:tc>
              </a:tr>
              <a:tr h="590550">
                <a:tc>
                  <a:txBody>
                    <a:bodyPr/>
                    <a:lstStyle/>
                    <a:p>
                      <a:r>
                        <a:rPr sz="2100">
                          <a:solidFill>
                            <a:srgbClr val="213846"/>
                          </a:solidFill>
                          <a:latin typeface="Bitstream Charter"/>
                          <a:ea typeface="Bitstream Charter"/>
                          <a:cs typeface="Bitstream Charter"/>
                        </a:rPr>
                        <a:t>V28-17</a:t>
                      </a:r>
                    </a:p>
                  </a:txBody>
                  <a:tcPr marL="114300" marR="114300" marT="95250" marB="95250"/>
                </a:tc>
                <a:tc>
                  <a:txBody>
                    <a:bodyPr/>
                    <a:lstStyle/>
                    <a:p>
                      <a:r>
                        <a:rPr sz="2100">
                          <a:solidFill>
                            <a:srgbClr val="213846"/>
                          </a:solidFill>
                          <a:latin typeface="Bitstream Charter"/>
                          <a:ea typeface="Bitstream Charter"/>
                          <a:cs typeface="Bitstream Charter"/>
                        </a:rPr>
                        <a:t>50.0</a:t>
                      </a:r>
                    </a:p>
                  </a:txBody>
                  <a:tcPr marL="114300" marR="114300" marT="95250" marB="95250"/>
                </a:tc>
                <a:tc>
                  <a:txBody>
                    <a:bodyPr/>
                    <a:lstStyle/>
                    <a:p>
                      <a:r>
                        <a:rPr sz="2100">
                          <a:solidFill>
                            <a:srgbClr val="213846"/>
                          </a:solidFill>
                          <a:latin typeface="Bitstream Charter"/>
                          <a:ea typeface="Bitstream Charter"/>
                          <a:cs typeface="Bitstream Charter"/>
                        </a:rPr>
                        <a:t>0.0</a:t>
                      </a:r>
                    </a:p>
                  </a:txBody>
                  <a:tcPr marL="114300" marR="114300" marT="95250" marB="95250"/>
                </a:tc>
                <a:tc>
                  <a:txBody>
                    <a:bodyPr/>
                    <a:lstStyle/>
                    <a:p>
                      <a:r>
                        <a:rPr sz="2100">
                          <a:solidFill>
                            <a:srgbClr val="213846"/>
                          </a:solidFill>
                          <a:latin typeface="Bitstream Charter"/>
                          <a:ea typeface="Bitstream Charter"/>
                          <a:cs typeface="Bitstream Charter"/>
                        </a:rPr>
                        <a:t>0.1</a:t>
                      </a:r>
                    </a:p>
                  </a:txBody>
                  <a:tcPr marL="114300" marR="114300" marT="95250" marB="95250"/>
                </a:tc>
                <a:tc>
                  <a:txBody>
                    <a:bodyPr/>
                    <a:lstStyle/>
                    <a:p>
                      <a:r>
                        <a:rPr sz="2100">
                          <a:solidFill>
                            <a:srgbClr val="213846"/>
                          </a:solidFill>
                          <a:latin typeface="Bitstream Charter"/>
                          <a:ea typeface="Bitstream Charter"/>
                          <a:cs typeface="Bitstream Charter"/>
                        </a:rPr>
                        <a:t>1-23</a:t>
                      </a:r>
                    </a:p>
                  </a:txBody>
                  <a:tcPr marL="114300" marR="114300" marT="95250" marB="95250"/>
                </a:tc>
              </a:tr>
              <a:tr h="590550">
                <a:tc>
                  <a:txBody>
                    <a:bodyPr/>
                    <a:lstStyle/>
                    <a:p>
                      <a:r>
                        <a:rPr sz="2100">
                          <a:solidFill>
                            <a:srgbClr val="213846"/>
                          </a:solidFill>
                          <a:latin typeface="Bitstream Charter"/>
                          <a:ea typeface="Bitstream Charter"/>
                          <a:cs typeface="Bitstream Charter"/>
                        </a:rPr>
                        <a:t>V04-24</a:t>
                      </a:r>
                    </a:p>
                  </a:txBody>
                  <a:tcPr marL="114300" marR="114300" marT="95250" marB="95250"/>
                </a:tc>
                <a:tc>
                  <a:txBody>
                    <a:bodyPr/>
                    <a:lstStyle/>
                    <a:p>
                      <a:r>
                        <a:rPr sz="2100">
                          <a:solidFill>
                            <a:srgbClr val="213846"/>
                          </a:solidFill>
                          <a:latin typeface="Bitstream Charter"/>
                          <a:ea typeface="Bitstream Charter"/>
                          <a:cs typeface="Bitstream Charter"/>
                        </a:rPr>
                        <a:t>50.2</a:t>
                      </a:r>
                    </a:p>
                  </a:txBody>
                  <a:tcPr marL="114300" marR="114300" marT="95250" marB="95250"/>
                </a:tc>
                <a:tc>
                  <a:txBody>
                    <a:bodyPr/>
                    <a:lstStyle/>
                    <a:p>
                      <a:r>
                        <a:rPr sz="2100">
                          <a:solidFill>
                            <a:srgbClr val="213846"/>
                          </a:solidFill>
                          <a:latin typeface="Bitstream Charter"/>
                          <a:ea typeface="Bitstream Charter"/>
                          <a:cs typeface="Bitstream Charter"/>
                        </a:rPr>
                        <a:t>0.1</a:t>
                      </a:r>
                    </a:p>
                  </a:txBody>
                  <a:tcPr marL="114300" marR="114300" marT="95250" marB="95250"/>
                </a:tc>
                <a:tc>
                  <a:txBody>
                    <a:bodyPr/>
                    <a:lstStyle/>
                    <a:p>
                      <a:r>
                        <a:rPr sz="2100">
                          <a:solidFill>
                            <a:srgbClr val="213846"/>
                          </a:solidFill>
                          <a:latin typeface="Bitstream Charter"/>
                          <a:ea typeface="Bitstream Charter"/>
                          <a:cs typeface="Bitstream Charter"/>
                        </a:rPr>
                        <a:t>2.9</a:t>
                      </a:r>
                    </a:p>
                  </a:txBody>
                  <a:tcPr marL="114300" marR="114300" marT="95250" marB="95250"/>
                </a:tc>
                <a:tc>
                  <a:txBody>
                    <a:bodyPr/>
                    <a:lstStyle/>
                    <a:p>
                      <a:r>
                        <a:rPr sz="2100">
                          <a:solidFill>
                            <a:srgbClr val="213846"/>
                          </a:solidFill>
                          <a:latin typeface="Bitstream Charter"/>
                          <a:ea typeface="Bitstream Charter"/>
                          <a:cs typeface="Bitstream Charter"/>
                        </a:rPr>
                        <a:t>2-34</a:t>
                      </a:r>
                    </a:p>
                  </a:txBody>
                  <a:tcPr marL="114300" marR="114300" marT="95250" marB="95250"/>
                </a:tc>
              </a:tr>
            </a:tbl>
          </a:graphicData>
        </a:graphic>
      </p:graphicFrame>
      <p:sp>
        <p:nvSpPr>
          <p:cNvPr id="3" name="">
            <a:extLst xmlns:a="http://schemas.openxmlformats.org/drawingml/2006/main">
              <a:ext uri="{FF2B5EF4-FFF2-40B4-BE49-F238E27FC236}">
                <a16:creationId xmlns:a16="http://schemas.microsoft.com/office/drawing/2014/main" id="{B6057B3F-4425-4249-9B09-C7C0AA9CC48A}"/>
              </a:ext>
            </a:extLst>
          </p:cNvPr>
          <p:cNvSpPr>
            <a:spLocks xmlns:a="http://schemas.openxmlformats.org/drawingml/2006/main" noGrp="1"/>
          </p:cNvSpPr>
          <p:nvPr/>
        </p:nvSpPr>
        <p:spPr>
          <a:xfrm xmlns:a="http://schemas.openxmlformats.org/drawingml/2006/main">
            <a:off x="609600" y="40957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Score: 50% temperature percentile, 30% inverse green percentile, 20% mapped-building percentile.</a:t>
            </a:r>
          </a:p>
        </p:txBody>
      </p:sp>
      <p:sp>
        <p:nvSpPr>
          <p:cNvPr id="4" name="">
            <a:extLst xmlns:a="http://schemas.openxmlformats.org/drawingml/2006/main">
              <a:ext uri="{FF2B5EF4-FFF2-40B4-BE49-F238E27FC236}">
                <a16:creationId xmlns:a16="http://schemas.microsoft.com/office/drawing/2014/main" id="{7BF433C5-572A-45FD-AAA4-FA98985B78FA}"/>
              </a:ext>
            </a:extLst>
          </p:cNvPr>
          <p:cNvSpPr>
            <a:spLocks xmlns:a="http://schemas.openxmlformats.org/drawingml/2006/main" noGrp="1"/>
          </p:cNvSpPr>
          <p:nvPr/>
        </p:nvSpPr>
        <p:spPr>
          <a:xfrm xmlns:a="http://schemas.openxmlformats.org/drawingml/2006/main">
            <a:off x="609600" y="49530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Thirteen sensitivity settings show no uniquely verified best intervention site.</a:t>
            </a:r>
          </a:p>
        </p:txBody>
      </p:sp>
      <p:sp>
        <p:nvSpPr>
          <p:cNvPr id="5" name="">
            <a:extLst xmlns:a="http://schemas.openxmlformats.org/drawingml/2006/main">
              <a:ext uri="{FF2B5EF4-FFF2-40B4-BE49-F238E27FC236}">
                <a16:creationId xmlns:a16="http://schemas.microsoft.com/office/drawing/2014/main" id="{2687F463-98D7-4CB7-BC43-BA3858AD5E87}"/>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*Means of date-level cell summaries. Rank ranges are scenario ranges, not confidence intervals.</a:t>
            </a:r>
          </a:p>
        </p:txBody>
      </p:sp>
    </p:spTree>
    <p:extLst>
      <p:ext uri="{BB962C8B-B14F-4D97-AF65-F5344CB8AC3E}">
        <p14:creationId xmlns:p14="http://schemas.microsoft.com/office/powerpoint/2010/main" val="815878602"/>
      </p:ext>
    </p:extLst>
  </p:cSld>
</p:sld>
</file>

<file path=ppt/slides/slide9.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F454FBA-B156-4D6E-B023-63C76DC42E64}"/>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Reproducibility and reference checks</a:t>
            </a:r>
          </a:p>
        </p:txBody>
      </p:sp>
      <p:sp>
        <p:nvSpPr>
          <p:cNvPr id="2" name="">
            <a:extLst xmlns:a="http://schemas.openxmlformats.org/drawingml/2006/main">
              <a:ext uri="{FF2B5EF4-FFF2-40B4-BE49-F238E27FC236}">
                <a16:creationId xmlns:a16="http://schemas.microsoft.com/office/drawing/2014/main" id="{64B0D461-CB68-4FE8-9441-C8C06A8CCAF1}"/>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The package includes 35 hashed input files, source metadata and pinned Python 3.12 dependencies.</a:t>
            </a:r>
          </a:p>
        </p:txBody>
      </p:sp>
      <p:sp>
        <p:nvSpPr>
          <p:cNvPr id="3" name="">
            <a:extLst xmlns:a="http://schemas.openxmlformats.org/drawingml/2006/main">
              <a:ext uri="{FF2B5EF4-FFF2-40B4-BE49-F238E27FC236}">
                <a16:creationId xmlns:a16="http://schemas.microsoft.com/office/drawing/2014/main" id="{3C8B1392-2B47-4FCF-B014-7994DAD9533B}"/>
              </a:ext>
            </a:extLst>
          </p:cNvPr>
          <p:cNvSpPr>
            <a:spLocks xmlns:a="http://schemas.openxmlformats.org/drawingml/2006/main" noGrp="1"/>
          </p:cNvSpPr>
          <p:nvPr/>
        </p:nvSpPr>
        <p:spPr>
          <a:xfrm xmlns:a="http://schemas.openxmlformats.org/drawingml/2006/main">
            <a:off x="609600" y="26384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Clean GitHub execution passed through a normal Jupyter kernel: five cells, zero errors and all 35 input hashes verified.</a:t>
            </a:r>
          </a:p>
        </p:txBody>
      </p:sp>
      <p:sp>
        <p:nvSpPr>
          <p:cNvPr id="4" name="">
            <a:extLst xmlns:a="http://schemas.openxmlformats.org/drawingml/2006/main">
              <a:ext uri="{FF2B5EF4-FFF2-40B4-BE49-F238E27FC236}">
                <a16:creationId xmlns:a16="http://schemas.microsoft.com/office/drawing/2014/main" id="{E6D145BE-26B7-433B-A5EC-B2B2C7A364A1}"/>
              </a:ext>
            </a:extLst>
          </p:cNvPr>
          <p:cNvSpPr>
            <a:spLocks xmlns:a="http://schemas.openxmlformats.org/drawingml/2006/main" noGrp="1"/>
          </p:cNvSpPr>
          <p:nvPr/>
        </p:nvSpPr>
        <p:spPr>
          <a:xfrm xmlns:a="http://schemas.openxmlformats.org/drawingml/2006/main">
            <a:off x="609600" y="37052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Grass reference agreement: 24/25. Building green-rule agreement: 0/30. Coastal points retained in thermal support: 0/30.</a:t>
            </a:r>
          </a:p>
        </p:txBody>
      </p:sp>
      <p:sp>
        <p:nvSpPr>
          <p:cNvPr id="5" name="">
            <a:extLst xmlns:a="http://schemas.openxmlformats.org/drawingml/2006/main">
              <a:ext uri="{FF2B5EF4-FFF2-40B4-BE49-F238E27FC236}">
                <a16:creationId xmlns:a16="http://schemas.microsoft.com/office/drawing/2014/main" id="{C47291B8-3908-4A14-AA84-4F13094DD3B3}"/>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Contributed reference labels have conflicts. Human confirmation and independent thermal validation remain pending.</a:t>
            </a:r>
          </a:p>
        </p:txBody>
      </p:sp>
    </p:spTree>
    <p:extLst>
      <p:ext uri="{BB962C8B-B14F-4D97-AF65-F5344CB8AC3E}">
        <p14:creationId xmlns:p14="http://schemas.microsoft.com/office/powerpoint/2010/main" val="820933449"/>
      </p:ext>
    </p:extLst>
  </p:cSld>
</p:sld>
</file>

<file path=ppt/slides/slide10.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004AE9B-97BA-4660-8607-1D7703C3A285}"/>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Potential impact and incubation next steps</a:t>
            </a:r>
          </a:p>
        </p:txBody>
      </p:sp>
      <p:sp>
        <p:nvSpPr>
          <p:cNvPr id="2" name="">
            <a:extLst xmlns:a="http://schemas.openxmlformats.org/drawingml/2006/main">
              <a:ext uri="{FF2B5EF4-FFF2-40B4-BE49-F238E27FC236}">
                <a16:creationId xmlns:a16="http://schemas.microsoft.com/office/drawing/2014/main" id="{72348A98-59C9-43F3-84F1-D3937B8BF02F}"/>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Proposed benefit: help planners inspect the evidence behind a shortlist before arranging field visits. No time saving or cooling benefit has been measured.</a:t>
            </a:r>
          </a:p>
        </p:txBody>
      </p:sp>
      <p:sp>
        <p:nvSpPr>
          <p:cNvPr id="3" name="">
            <a:extLst xmlns:a="http://schemas.openxmlformats.org/drawingml/2006/main">
              <a:ext uri="{FF2B5EF4-FFF2-40B4-BE49-F238E27FC236}">
                <a16:creationId xmlns:a16="http://schemas.microsoft.com/office/drawing/2014/main" id="{62C24E4E-B80B-417A-BAB8-A7D74B72E778}"/>
              </a:ext>
            </a:extLst>
          </p:cNvPr>
          <p:cNvSpPr>
            <a:spLocks xmlns:a="http://schemas.openxmlformats.org/drawingml/2006/main" noGrp="1"/>
          </p:cNvSpPr>
          <p:nvPr/>
        </p:nvSpPr>
        <p:spPr>
          <a:xfrm xmlns:a="http://schemas.openxmlformats.org/drawingml/2006/main">
            <a:off x="609600" y="26384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Next pilot: confirm boundaries and reference labels, visit candidate sites and collect planner feedback.</a:t>
            </a:r>
          </a:p>
        </p:txBody>
      </p:sp>
      <p:sp>
        <p:nvSpPr>
          <p:cNvPr id="4" name="">
            <a:extLst xmlns:a="http://schemas.openxmlformats.org/drawingml/2006/main">
              <a:ext uri="{FF2B5EF4-FFF2-40B4-BE49-F238E27FC236}">
                <a16:creationId xmlns:a16="http://schemas.microsoft.com/office/drawing/2014/main" id="{B8A87169-882E-44F3-84FD-F69C96E93693}"/>
              </a:ext>
            </a:extLst>
          </p:cNvPr>
          <p:cNvSpPr>
            <a:spLocks xmlns:a="http://schemas.openxmlformats.org/drawingml/2006/main" noGrp="1"/>
          </p:cNvSpPr>
          <p:nvPr/>
        </p:nvSpPr>
        <p:spPr>
          <a:xfrm xmlns:a="http://schemas.openxmlformats.org/drawingml/2006/main">
            <a:off x="609600" y="37052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Incubation: assess suitable VHR data, implement and validate segmentation, then test shade and paving indicators.</a:t>
            </a:r>
          </a:p>
        </p:txBody>
      </p:sp>
      <p:sp>
        <p:nvSpPr>
          <p:cNvPr id="5" name="">
            <a:extLst xmlns:a="http://schemas.openxmlformats.org/drawingml/2006/main">
              <a:ext uri="{FF2B5EF4-FFF2-40B4-BE49-F238E27FC236}">
                <a16:creationId xmlns:a16="http://schemas.microsoft.com/office/drawing/2014/main" id="{54492EF2-9A1A-4E88-A3F8-54091CD78E57}"/>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The current PoC does not measure urban expansion, health risk, causal cooling or long-term warming.</a:t>
            </a:r>
          </a:p>
        </p:txBody>
      </p:sp>
    </p:spTree>
    <p:extLst>
      <p:ext uri="{BB962C8B-B14F-4D97-AF65-F5344CB8AC3E}">
        <p14:creationId xmlns:p14="http://schemas.microsoft.com/office/powerpoint/2010/main" val="2142216958"/>
      </p:ext>
    </p:extLst>
  </p:cSld>
</p:sld>
</file>

<file path=ppt/slides/slide11.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2C9003-D0A4-4253-8717-B0AE51444300}"/>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Team responsibilities for final review</a:t>
            </a:r>
          </a:p>
        </p:txBody>
      </p:sp>
      <p:sp>
        <p:nvSpPr>
          <p:cNvPr id="2" name="">
            <a:extLst xmlns:a="http://schemas.openxmlformats.org/drawingml/2006/main">
              <a:ext uri="{FF2B5EF4-FFF2-40B4-BE49-F238E27FC236}">
                <a16:creationId xmlns:a16="http://schemas.microsoft.com/office/drawing/2014/main" id="{5739893F-153B-41CB-8912-1598AF60DDE2}"/>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Nasser Alhuri: team lead, integration, submission and pitch.</a:t>
            </a:r>
          </a:p>
        </p:txBody>
      </p:sp>
      <p:sp>
        <p:nvSpPr>
          <p:cNvPr id="3" name="">
            <a:extLst xmlns:a="http://schemas.openxmlformats.org/drawingml/2006/main">
              <a:ext uri="{FF2B5EF4-FFF2-40B4-BE49-F238E27FC236}">
                <a16:creationId xmlns:a16="http://schemas.microsoft.com/office/drawing/2014/main" id="{AF34FCB2-8E26-48E5-B0C2-EEF76BEA3C6F}"/>
              </a:ext>
            </a:extLst>
          </p:cNvPr>
          <p:cNvSpPr>
            <a:spLocks xmlns:a="http://schemas.openxmlformats.org/drawingml/2006/main" noGrp="1"/>
          </p:cNvSpPr>
          <p:nvPr/>
        </p:nvSpPr>
        <p:spPr>
          <a:xfrm xmlns:a="http://schemas.openxmlformats.org/drawingml/2006/main">
            <a:off x="609600" y="2381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Abdulrahman Almohannadi: data and method review.</a:t>
            </a:r>
          </a:p>
        </p:txBody>
      </p:sp>
      <p:sp>
        <p:nvSpPr>
          <p:cNvPr id="4" name="">
            <a:extLst xmlns:a="http://schemas.openxmlformats.org/drawingml/2006/main">
              <a:ext uri="{FF2B5EF4-FFF2-40B4-BE49-F238E27FC236}">
                <a16:creationId xmlns:a16="http://schemas.microsoft.com/office/drawing/2014/main" id="{8E28F698-793F-48F4-9F59-87D025707BC3}"/>
              </a:ext>
            </a:extLst>
          </p:cNvPr>
          <p:cNvSpPr>
            <a:spLocks xmlns:a="http://schemas.openxmlformats.org/drawingml/2006/main" noGrp="1"/>
          </p:cNvSpPr>
          <p:nvPr/>
        </p:nvSpPr>
        <p:spPr>
          <a:xfrm xmlns:a="http://schemas.openxmlformats.org/drawingml/2006/main">
            <a:off x="609600" y="3190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Mohammed Almarri: map and candidate-site review.</a:t>
            </a:r>
          </a:p>
        </p:txBody>
      </p:sp>
      <p:sp>
        <p:nvSpPr>
          <p:cNvPr id="5" name="">
            <a:extLst xmlns:a="http://schemas.openxmlformats.org/drawingml/2006/main">
              <a:ext uri="{FF2B5EF4-FFF2-40B4-BE49-F238E27FC236}">
                <a16:creationId xmlns:a16="http://schemas.microsoft.com/office/drawing/2014/main" id="{1E3B4838-A4B9-4507-B4CD-BA8C80BE28C9}"/>
              </a:ext>
            </a:extLst>
          </p:cNvPr>
          <p:cNvSpPr>
            <a:spLocks xmlns:a="http://schemas.openxmlformats.org/drawingml/2006/main" noGrp="1"/>
          </p:cNvSpPr>
          <p:nvPr/>
        </p:nvSpPr>
        <p:spPr>
          <a:xfrm xmlns:a="http://schemas.openxmlformats.org/drawingml/2006/main">
            <a:off x="609600" y="40005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Majed Alkuwari: reproducibility check and demo review.</a:t>
            </a:r>
          </a:p>
        </p:txBody>
      </p:sp>
      <p:sp>
        <p:nvSpPr>
          <p:cNvPr id="6" name="">
            <a:extLst xmlns:a="http://schemas.openxmlformats.org/drawingml/2006/main">
              <a:ext uri="{FF2B5EF4-FFF2-40B4-BE49-F238E27FC236}">
                <a16:creationId xmlns:a16="http://schemas.microsoft.com/office/drawing/2014/main" id="{B9BC5FB3-36EB-49EC-9EEA-B20BBBE94A19}"/>
              </a:ext>
            </a:extLst>
          </p:cNvPr>
          <p:cNvSpPr>
            <a:spLocks xmlns:a="http://schemas.openxmlformats.org/drawingml/2006/main" noGrp="1"/>
          </p:cNvSpPr>
          <p:nvPr/>
        </p:nvSpPr>
        <p:spPr>
          <a:xfrm xmlns:a="http://schemas.openxmlformats.org/drawingml/2006/main">
            <a:off x="609600" y="48101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Ali Alkubaisi: presentation and package quality review.</a:t>
            </a:r>
          </a:p>
        </p:txBody>
      </p:sp>
      <p:sp>
        <p:nvSpPr>
          <p:cNvPr id="7" name="">
            <a:extLst xmlns:a="http://schemas.openxmlformats.org/drawingml/2006/main">
              <a:ext uri="{FF2B5EF4-FFF2-40B4-BE49-F238E27FC236}">
                <a16:creationId xmlns:a16="http://schemas.microsoft.com/office/drawing/2014/main" id="{4F46B7B3-2247-4811-9866-5DB624C6AFB0}"/>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Assigned review ownership, not claims of completed contributions. Code, analysis and drafts were developed with AI assistance.</a:t>
            </a:r>
          </a:p>
        </p:txBody>
      </p:sp>
    </p:spTree>
    <p:extLst>
      <p:ext uri="{BB962C8B-B14F-4D97-AF65-F5344CB8AC3E}">
        <p14:creationId xmlns:p14="http://schemas.microsoft.com/office/powerpoint/2010/main" val="169067914"/>
      </p:ext>
    </p:extLst>
  </p:cSld>
</p:sld>
</file>

<file path=ppt/slides/slide12.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5950595-6EB0-44CF-9F4F-A3DC59B46145}"/>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Data attribution and sources</a:t>
            </a:r>
          </a:p>
        </p:txBody>
      </p:sp>
      <p:sp>
        <p:nvSpPr>
          <p:cNvPr id="2" name="">
            <a:extLst xmlns:a="http://schemas.openxmlformats.org/drawingml/2006/main">
              <a:ext uri="{FF2B5EF4-FFF2-40B4-BE49-F238E27FC236}">
                <a16:creationId xmlns:a16="http://schemas.microsoft.com/office/drawing/2014/main" id="{7C58BD8D-76E5-4269-9DDB-695D60E54BCD}"/>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Contains modified Copernicus Sentinel data (2026). Optical source: Element 84 Earth Search.</a:t>
            </a:r>
          </a:p>
        </p:txBody>
      </p:sp>
      <p:sp>
        <p:nvSpPr>
          <p:cNvPr id="3" name="">
            <a:extLst xmlns:a="http://schemas.openxmlformats.org/drawingml/2006/main">
              <a:ext uri="{FF2B5EF4-FFF2-40B4-BE49-F238E27FC236}">
                <a16:creationId xmlns:a16="http://schemas.microsoft.com/office/drawing/2014/main" id="{4994832F-C8C4-4CDD-9E79-78BE31EA9355}"/>
              </a:ext>
            </a:extLst>
          </p:cNvPr>
          <p:cNvSpPr>
            <a:spLocks xmlns:a="http://schemas.openxmlformats.org/drawingml/2006/main" noGrp="1"/>
          </p:cNvSpPr>
          <p:nvPr/>
        </p:nvSpPr>
        <p:spPr>
          <a:xfrm xmlns:a="http://schemas.openxmlformats.org/drawingml/2006/main">
            <a:off x="609600" y="26384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Landsat imagery courtesy of USGS. Collection 2 Level-2 surface temperature, doi:10.5066/P9OGBGM6.</a:t>
            </a:r>
          </a:p>
        </p:txBody>
      </p:sp>
      <p:sp>
        <p:nvSpPr>
          <p:cNvPr id="4" name="">
            <a:extLst xmlns:a="http://schemas.openxmlformats.org/drawingml/2006/main">
              <a:ext uri="{FF2B5EF4-FFF2-40B4-BE49-F238E27FC236}">
                <a16:creationId xmlns:a16="http://schemas.microsoft.com/office/drawing/2014/main" id="{92C14AD2-1346-466D-B397-FB9444B6BC3C}"/>
              </a:ext>
            </a:extLst>
          </p:cNvPr>
          <p:cNvSpPr>
            <a:spLocks xmlns:a="http://schemas.openxmlformats.org/drawingml/2006/main" noGrp="1"/>
          </p:cNvSpPr>
          <p:nvPr/>
        </p:nvSpPr>
        <p:spPr>
          <a:xfrm xmlns:a="http://schemas.openxmlformats.org/drawingml/2006/main">
            <a:off x="609600" y="37052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ESA WorldCover 2021 v200, Zanaga et al. (2022). CC BY 4.0, doi:10.5281/zenodo.7254220.</a:t>
            </a:r>
          </a:p>
        </p:txBody>
      </p:sp>
      <p:sp>
        <p:nvSpPr>
          <p:cNvPr id="5" name="">
            <a:extLst xmlns:a="http://schemas.openxmlformats.org/drawingml/2006/main">
              <a:ext uri="{FF2B5EF4-FFF2-40B4-BE49-F238E27FC236}">
                <a16:creationId xmlns:a16="http://schemas.microsoft.com/office/drawing/2014/main" id="{5BD28C1D-EA19-4C9C-B10A-4CFD16A529A5}"/>
              </a:ext>
            </a:extLst>
          </p:cNvPr>
          <p:cNvSpPr>
            <a:spLocks xmlns:a="http://schemas.openxmlformats.org/drawingml/2006/main" noGrp="1"/>
          </p:cNvSpPr>
          <p:nvPr/>
        </p:nvSpPr>
        <p:spPr>
          <a:xfrm xmlns:a="http://schemas.openxmlformats.org/drawingml/2006/main">
            <a:off x="609600" y="47720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 OpenStreetMap contributors. Building/reference geometry: ODbL 1.0. openstreetmap.org/copyright</a:t>
            </a:r>
          </a:p>
        </p:txBody>
      </p:sp>
      <p:sp>
        <p:nvSpPr>
          <p:cNvPr id="6" name="">
            <a:extLst xmlns:a="http://schemas.openxmlformats.org/drawingml/2006/main">
              <a:ext uri="{FF2B5EF4-FFF2-40B4-BE49-F238E27FC236}">
                <a16:creationId xmlns:a16="http://schemas.microsoft.com/office/drawing/2014/main" id="{73D1C18A-1729-4EC2-B72C-E0CD04074BBE}"/>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Full scene IDs, exact provenance, processing rules and limitations accompany the package. Original code: MIT.</a:t>
            </a:r>
          </a:p>
        </p:txBody>
      </p:sp>
    </p:spTree>
    <p:extLst>
      <p:ext uri="{BB962C8B-B14F-4D97-AF65-F5344CB8AC3E}">
        <p14:creationId xmlns:p14="http://schemas.microsoft.com/office/powerpoint/2010/main" val="7068049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2026-10-05T06:19:40.9160000Z</dcterms:created>
  <dcterms:modified xsi:type="dcterms:W3CDTF">2026-10-05T06:19:40.9170000Z</dcterms:modified>
</coreProperties>
</file>