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2f4ba6dd6348ce" /><Relationship Type="http://schemas.openxmlformats.org/officeDocument/2006/relationships/extended-properties" Target="/docProps/app.xml" Id="R6552255447814ca8" /><Relationship Type="http://schemas.openxmlformats.org/officeDocument/2006/relationships/officeDocument" Target="/ppt/presentation.xml" Id="R3693a4a3df8e49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7e29670fc4762"/>
  </p:sldMasterIdLst>
  <p:notesMasterIdLst>
    <p:notesMasterId xmlns:r="http://schemas.openxmlformats.org/officeDocument/2006/relationships" r:id="R28d2207b92b74de5"/>
  </p:notesMasterIdLst>
  <p:sldIdLst>
    <p:sldId xmlns:r="http://schemas.openxmlformats.org/officeDocument/2006/relationships" id="256" r:id="Rf4dfa02a48924dcf"/>
    <p:sldId xmlns:r="http://schemas.openxmlformats.org/officeDocument/2006/relationships" id="257" r:id="R0250ceb3d43b4cc6"/>
    <p:sldId xmlns:r="http://schemas.openxmlformats.org/officeDocument/2006/relationships" id="258" r:id="Rc4430c007319428f"/>
    <p:sldId xmlns:r="http://schemas.openxmlformats.org/officeDocument/2006/relationships" id="259" r:id="Rb75867a560004dce"/>
    <p:sldId xmlns:r="http://schemas.openxmlformats.org/officeDocument/2006/relationships" id="260" r:id="Ra6ab6ed3f820402b"/>
    <p:sldId xmlns:r="http://schemas.openxmlformats.org/officeDocument/2006/relationships" id="261" r:id="Rccdadf42f21b4c97"/>
    <p:sldId xmlns:r="http://schemas.openxmlformats.org/officeDocument/2006/relationships" id="262" r:id="R3b750980735b4ee1"/>
    <p:sldId xmlns:r="http://schemas.openxmlformats.org/officeDocument/2006/relationships" id="263" r:id="R5c132eb2fd26463b"/>
    <p:sldId xmlns:r="http://schemas.openxmlformats.org/officeDocument/2006/relationships" id="264" r:id="R1e6dfe076abe496f"/>
    <p:sldId xmlns:r="http://schemas.openxmlformats.org/officeDocument/2006/relationships" id="265" r:id="R7dcee3cb8d6f4bc1"/>
    <p:sldId xmlns:r="http://schemas.openxmlformats.org/officeDocument/2006/relationships" id="266" r:id="Rb133d68c9d5a4136"/>
    <p:sldId xmlns:r="http://schemas.openxmlformats.org/officeDocument/2006/relationships" id="267" r:id="R9916258caeda43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3a525ea8854bba" /><Relationship Type="http://schemas.openxmlformats.org/officeDocument/2006/relationships/slideMaster" Target="/ppt/slideMasters/slideMaster1.xml" Id="Rc437e29670fc4762" /><Relationship Type="http://schemas.openxmlformats.org/officeDocument/2006/relationships/notesMaster" Target="/ppt/notesMasters/notesMaster1.xml" Id="R28d2207b92b74de5" /><Relationship Type="http://schemas.openxmlformats.org/officeDocument/2006/relationships/presProps" Target="/ppt/presProps.xml" Id="R4d6c77690adf4604" /><Relationship Type="http://schemas.openxmlformats.org/officeDocument/2006/relationships/tableStyles" Target="/ppt/tableStyles.xml" Id="R6e6162d7dfe84cbc" /><Relationship Type="http://schemas.openxmlformats.org/officeDocument/2006/relationships/slide" Target="/ppt/slides/slide1.xml" Id="Rf4dfa02a48924dcf" /><Relationship Type="http://schemas.openxmlformats.org/officeDocument/2006/relationships/slide" Target="/ppt/slides/slide2.xml" Id="R0250ceb3d43b4cc6" /><Relationship Type="http://schemas.openxmlformats.org/officeDocument/2006/relationships/slide" Target="/ppt/slides/slide3.xml" Id="Rc4430c007319428f" /><Relationship Type="http://schemas.openxmlformats.org/officeDocument/2006/relationships/slide" Target="/ppt/slides/slide4.xml" Id="Rb75867a560004dce" /><Relationship Type="http://schemas.openxmlformats.org/officeDocument/2006/relationships/slide" Target="/ppt/slides/slide5.xml" Id="Ra6ab6ed3f820402b" /><Relationship Type="http://schemas.openxmlformats.org/officeDocument/2006/relationships/slide" Target="/ppt/slides/slide6.xml" Id="Rccdadf42f21b4c97" /><Relationship Type="http://schemas.openxmlformats.org/officeDocument/2006/relationships/slide" Target="/ppt/slides/slide7.xml" Id="R3b750980735b4ee1" /><Relationship Type="http://schemas.openxmlformats.org/officeDocument/2006/relationships/slide" Target="/ppt/slides/slide8.xml" Id="R5c132eb2fd26463b" /><Relationship Type="http://schemas.openxmlformats.org/officeDocument/2006/relationships/slide" Target="/ppt/slides/slide9.xml" Id="R1e6dfe076abe496f" /><Relationship Type="http://schemas.openxmlformats.org/officeDocument/2006/relationships/slide" Target="/ppt/slides/slide10.xml" Id="R7dcee3cb8d6f4bc1" /><Relationship Type="http://schemas.openxmlformats.org/officeDocument/2006/relationships/slide" Target="/ppt/slides/slide11.xml" Id="Rb133d68c9d5a4136" /><Relationship Type="http://schemas.openxmlformats.org/officeDocument/2006/relationships/slide" Target="/ppt/slides/slide12.xml" Id="R9916258caeda43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2e0fd69a3349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3d77c67c744317" /><Relationship Type="http://schemas.openxmlformats.org/officeDocument/2006/relationships/notesMaster" Target="/ppt/notesMasters/notesMaster1.xml" Id="Rfa49527aba2d4f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78ecf759324999" /><Relationship Type="http://schemas.openxmlformats.org/officeDocument/2006/relationships/notesMaster" Target="/ppt/notesMasters/notesMaster1.xml" Id="R4fa24c1447764d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907f49f6454cea" /><Relationship Type="http://schemas.openxmlformats.org/officeDocument/2006/relationships/notesMaster" Target="/ppt/notesMasters/notesMaster1.xml" Id="R6c22d4e312e44b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1dcdbac2b2496d" /><Relationship Type="http://schemas.openxmlformats.org/officeDocument/2006/relationships/notesMaster" Target="/ppt/notesMasters/notesMaster1.xml" Id="R9a70b6d910a24e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2c2a53e3134dca" /><Relationship Type="http://schemas.openxmlformats.org/officeDocument/2006/relationships/notesMaster" Target="/ppt/notesMasters/notesMaster1.xml" Id="Re1c99c894b7947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1073043e3b4e46" /><Relationship Type="http://schemas.openxmlformats.org/officeDocument/2006/relationships/notesMaster" Target="/ppt/notesMasters/notesMaster1.xml" Id="R3a56d29ef21e43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6f76a1087a4b08" /><Relationship Type="http://schemas.openxmlformats.org/officeDocument/2006/relationships/notesMaster" Target="/ppt/notesMasters/notesMaster1.xml" Id="Rd6c34493f1b545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092800c4324b11" /><Relationship Type="http://schemas.openxmlformats.org/officeDocument/2006/relationships/notesMaster" Target="/ppt/notesMasters/notesMaster1.xml" Id="R7fbde23b5e8d44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2be31a4e5644b2" /><Relationship Type="http://schemas.openxmlformats.org/officeDocument/2006/relationships/notesMaster" Target="/ppt/notesMasters/notesMaster1.xml" Id="R4a44250feb2442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250bf7da7b4c5a" /><Relationship Type="http://schemas.openxmlformats.org/officeDocument/2006/relationships/notesMaster" Target="/ppt/notesMasters/notesMaster1.xml" Id="R4767554c143143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40fcc85dda47ef" /><Relationship Type="http://schemas.openxmlformats.org/officeDocument/2006/relationships/notesMaster" Target="/ppt/notesMasters/notesMaster1.xml" Id="Rcdba83be9dde47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ce5055cb5942fe" /><Relationship Type="http://schemas.openxmlformats.org/officeDocument/2006/relationships/notesMaster" Target="/ppt/notesMasters/notesMaster1.xml" Id="R6a38918db32745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problem and user need from README sections 1 and 2. No field interviews, exposure measurements or validated benefit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docs/Local-Review.md, results/local-greenery-audit.json and unchanged planning-cells.csv. Local observer: Abdulrahman Almohannadi; reports recorded 6 October 2026, observation date unspecified. Street View link supplied by Nasser: https://maps.app.goo.gl/gPEzxW3NFqErPWNP8 . Panorama McFzT23rIzQ4UJTSgSHFCQ, capture March 2023. Camera 25.7175476, 51.5145504 is inside V04-23, about 84 m from its centre, not a surveyed sign coordinate. It provides historical context, historical imagery, supplemented by Nasser's firsthand report. Some tree shadow is visible; shade varies. Nasser reports visiting the sites and confirms the described physical situation is the same as in September 2026; exact visit dates were not supplied. No passenger counts, cooling benefits or design recommendations are established. Street View imagery is linked, not redistributed. Google guidance: https://about.google/brand-resource-center/products-and-services/geo-guidelines/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Editable workflow diagram. Methods are detailed in README section 4. Inputs are 35 hashed files; matching support is required for the two accepted thermal dates. Ranking is an investigation heuristic. Local review is a separate evidence stage. It does not alter the satellite ranking or create a human-use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results/local-review-map.png, packaged Sentinel-2 RGB 30 September 2026, app/local-review.json, aoi.geojson and unchanged planning-cells.geojson. Labels identify the full 300 m polygons. Teal dashed line is the analyst-defined study boundary. Local location names and uses are from Abdulrahman; Nasser confirms site visits and unchanged physical conditions relative to September 2026; exact visit dates unspecified, detailed assessment pending. V04-23 and V04-24 are adjacent; a nearby farmers market has not been assigned to a cell. Street View marker is the historical camera, not an exact stop point. Contains modified Copernicus Sentinel data (2026).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 Updated display uses the two unchanged common-temp rasters with a common 30–60 °C scale. The rejected 6 September date is explained in text instead of an empty map; its exclusion record is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 Local observations: docs/Local-Review.md; Nasser confirms site visits; detailed assessment pending. V04-23 maxima are 0.26262 and 0.24985; matched-support shares at diagnostic threshold 0.20 are 2.7222% and 0.3889%. Nasser confirms roadside trees and unchanged physical conditions relative to September 2026 from site visits; exact visit dates were not supplied. This does not validate the optical threshold or vegetation health. Scenario ranks remain unchanged; no unique certified intervention site. The fixed score weights remain 50% heat, 30% inverse green, 20% mapped buildings.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 These are rule-agreement checks on contributed positive reference points, not overall accuracy. The separate local pixel audit reproduces the baseline V04-23 result; it is not independent thermal or vegetation calibration.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next-stage activities, not completed work. See README sections 1, 2 and 8. A planner partnership, field validation and suitable imagery are dependencies; no partner agreement or funded incubation is claimed. No additional thermal date or historical change measurement was added in this local-review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Nasser selected responsibilities on 5 October 2026. Abdulrahman supplied the observations in the teammate notes, recorded 6 October 2026. Nasser reports visiting the sites and confirms the described physical situation is the same as in September 2026. Exact visit dates were not supplied; detailed measurements remain pending. Other members retain the assigned responsibilities, without claimed completion. Repository visibility verified public; submission requires final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 Instructor recommended Copernicus Browser (https://browser.dataspace.copernicus.eu/ ; official documentation checked: https://documentation.dataspace.copernicus.eu/Applications/Browser.html), NASA Earthdata supplied dashboard link (https://earthdata.nasa.gov/dashboard ; exact destination unconfirmed), Bellingcat geolocation toolkit (https://bellingcat.gitbook.io/toolkit/categories/geolocation ; checked). NASA Worldview was an additional suggestion, not the instructor exact link. No data provenance was changed to these portals. Full supplied instructor links and verification status are in docs/Discovery-Resources.md. Earth Search remains optical download provenance and Planetary Computer thermal provenance. WorldCover DOI and OSM licence above are retained. Street View reference is linked, capture March 2023; no Google imagery redistributed.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bb25de3aa74bb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21c661741a40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92fd8dd26940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8796ea9dc14f9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10bcb2ec0941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7391c8dd4d47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C83F314-1A4D-4D02-81D5-634D16B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FBADD6-4158-4C74-9C39-C254FC5A1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1276EA-FB27-45B1-B775-39EF7089A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0DC04-F2CB-4734-A176-BB21756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D6440A-F37E-4EC8-AA5C-6E476358D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E94DCD-C850-4A7C-B2E7-6AE576E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C43145C-0981-4FD0-8A44-F7B236CD5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7CD96CD-2700-41B5-9342-5C3368F5E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95AF0E9-3E76-4747-A37E-497F5BFE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4698F6-EB5A-45DF-BC72-D0529A8F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66D3FC5-3CAD-4983-A8DD-A48B2F252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3D2FB-CEFB-43B3-9999-05D98C628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16CF2F-12AF-48DA-BDC8-100552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21DA3B-08E8-462E-9B13-1D1510127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11C8A0-67AB-4348-9EE0-755B8CDC79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dba8897ec84de9" /><Relationship Type="http://schemas.openxmlformats.org/officeDocument/2006/relationships/slideLayout" Target="/ppt/slideLayouts/slideLayout1.xml" Id="R04a2e35cbca445b6" /><Relationship Type="http://schemas.openxmlformats.org/officeDocument/2006/relationships/slideLayout" Target="/ppt/slideLayouts/slideLayout2.xml" Id="Ra5cbe0d6cd41483f" /><Relationship Type="http://schemas.openxmlformats.org/officeDocument/2006/relationships/slideLayout" Target="/ppt/slideLayouts/slideLayout3.xml" Id="R4babc2ac96dd42ea" /><Relationship Type="http://schemas.openxmlformats.org/officeDocument/2006/relationships/slideLayout" Target="/ppt/slideLayouts/slideLayout4.xml" Id="Rab3c85198230416a" /><Relationship Type="http://schemas.openxmlformats.org/officeDocument/2006/relationships/slideLayout" Target="/ppt/slideLayouts/slideLayout5.xml" Id="Rab95646195c74f4a" /><Relationship Type="http://schemas.openxmlformats.org/officeDocument/2006/relationships/slideLayout" Target="/ppt/slideLayouts/slideLayout6.xml" Id="R1efd1f59c2ea4a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2e35cbca445b6"/>
    <p:sldLayoutId xmlns:r="http://schemas.openxmlformats.org/officeDocument/2006/relationships" id="2147483650" r:id="Ra5cbe0d6cd41483f"/>
    <p:sldLayoutId xmlns:r="http://schemas.openxmlformats.org/officeDocument/2006/relationships" id="2147483651" r:id="R4babc2ac96dd42ea"/>
    <p:sldLayoutId xmlns:r="http://schemas.openxmlformats.org/officeDocument/2006/relationships" id="2147483652" r:id="Rab3c85198230416a"/>
    <p:sldLayoutId xmlns:r="http://schemas.openxmlformats.org/officeDocument/2006/relationships" id="2147483653" r:id="Rab95646195c74f4a"/>
    <p:sldLayoutId xmlns:r="http://schemas.openxmlformats.org/officeDocument/2006/relationships" id="2147483654" r:id="R1efd1f59c2e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f8d7d45a134f46" /><Relationship Type="http://schemas.openxmlformats.org/officeDocument/2006/relationships/notesSlide" Target="/ppt/notesSlides/notesSlide1.xml" Id="Rbb2301b54e7d4a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0e7dab23d54b1f" /><Relationship Type="http://schemas.openxmlformats.org/officeDocument/2006/relationships/notesSlide" Target="/ppt/notesSlides/notesSlide2.xml" Id="Rb9c212b9138f46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e51386f8bf4de7" /><Relationship Type="http://schemas.openxmlformats.org/officeDocument/2006/relationships/notesSlide" Target="/ppt/notesSlides/notesSlide3.xml" Id="R4aa0c2442eb748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3dd6c58abe4679" /><Relationship Type="http://schemas.openxmlformats.org/officeDocument/2006/relationships/notesSlide" Target="/ppt/notesSlides/notesSlide4.xml" Id="Rc6b97ecee15f44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9b191e2ffb49bd" /><Relationship Type="http://schemas.openxmlformats.org/officeDocument/2006/relationships/notesSlide" Target="/ppt/notesSlides/notesSlide5.xml" Id="R4906da37a13a44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3742fd3c8d4d0c" /><Relationship Type="http://schemas.openxmlformats.org/officeDocument/2006/relationships/image" Target="/ppt/media/image.png" Id="Re0168ebde06e4c1b" /><Relationship Type="http://schemas.openxmlformats.org/officeDocument/2006/relationships/notesSlide" Target="/ppt/notesSlides/notesSlide6.xml" Id="R0676d3710e6e4e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2b3595c5e241e8" /><Relationship Type="http://schemas.openxmlformats.org/officeDocument/2006/relationships/image" Target="/ppt/media/image2.png" Id="R8f42fadd3d094151" /><Relationship Type="http://schemas.openxmlformats.org/officeDocument/2006/relationships/notesSlide" Target="/ppt/notesSlides/notesSlide7.xml" Id="Rd9f31e30777347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2c44bc397e4d6c" /><Relationship Type="http://schemas.openxmlformats.org/officeDocument/2006/relationships/notesSlide" Target="/ppt/notesSlides/notesSlide8.xml" Id="R252d2066fb0b41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d4fc765170434a" /><Relationship Type="http://schemas.openxmlformats.org/officeDocument/2006/relationships/notesSlide" Target="/ppt/notesSlides/notesSlide9.xml" Id="Rb5efbc4c5b4e40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77e58fe7f34e27" /><Relationship Type="http://schemas.openxmlformats.org/officeDocument/2006/relationships/notesSlide" Target="/ppt/notesSlides/notesSlide10.xml" Id="R668edc67a8ae4a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df3068b9144b09" /><Relationship Type="http://schemas.openxmlformats.org/officeDocument/2006/relationships/notesSlide" Target="/ppt/notesSlides/notesSlide11.xml" Id="R2d74ea5f0c5249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b9c89852ae4bd1" /><Relationship Type="http://schemas.openxmlformats.org/officeDocument/2006/relationships/notesSlide" Target="/ppt/notesSlides/notesSlide12.xml" Id="Rb7ba90fa2b4f46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80B-2D3C-429C-A4B3-3874A37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C8FD-4D97-4EBB-BCFE-4E09545C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F48B9-803B-4273-8B02-E46EA5F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Theme: Urban Expansion, Land Use Change &amp; Heat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7DD0-754F-4466-8431-843893E7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and local evidence for heat-protection site assessments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06FF0-E678-47D6-85FD-56BA6D94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Zubarah, Qatar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A5F29-45B6-4B22-9B04-7BC814A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8971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9A6E-1BFC-4A6F-BA9B-7DA7B47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The planning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2E879-0DF5-40EF-8CB9-BC1167E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Find hot cells, then check who uses them and when.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6DB36-8746-4414-89D2-8FEE2AB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screening helps organise visits; local review adds context about shade, access and planned 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3C73F-E240-47C7-A4A5-4FEFC54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Human exposure has not been measured. Trees, shelters and safer routes are options to assess.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92454-73BB-4C6F-BD2F-BB4B0F02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prototype supports investigation; it does not establish heat-health risk.</a:t>
            </a:r>
          </a:p>
        </p:txBody>
      </p:sp>
    </p:spTree>
    <p:extLst>
      <p:ext uri="{BB962C8B-B14F-4D97-AF65-F5344CB8AC3E}">
        <p14:creationId xmlns:p14="http://schemas.microsoft.com/office/powerpoint/2010/main" val="1138529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B4741-726A-431A-B8BE-0DE6CE6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Bus-stop site assessment: V04-23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4DD0-4FBC-42FC-8E7A-B167CF7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Satellite: 50.4 °C mean of two cell medians; 0% detected green pixels at the current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9A8AB-F412-45ED-ACAF-66808CEA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Local evidence: roadside trees, no shelter and limited walking access; Nasser confirms site visits.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7BB14-1B93-4FE4-B4A6-7850C8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 check: waiting-time shade, passenger use, route safety,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3E3A-9476-4F85-A1E8-E675CCDD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300 m values are not stop measurements. Nasser confirms unchanged physical conditions; visit dates unspecified.</a:t>
            </a:r>
          </a:p>
        </p:txBody>
      </p:sp>
    </p:spTree>
    <p:extLst>
      <p:ext uri="{BB962C8B-B14F-4D97-AF65-F5344CB8AC3E}">
        <p14:creationId xmlns:p14="http://schemas.microsoft.com/office/powerpoint/2010/main" val="1884030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5394-0381-4E84-A1BC-31C66FA3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87BBD-C9C0-439E-8013-25422BF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B1E9F-CAB5-401A-8B40-5421C993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FDA68-B5F2-4407-8B2C-A57F0764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1F024-6130-4189-BA6B-37964BC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No hyperspectral, 813 or proprietary VHR data are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2663A-BCDB-45A6-B0FA-8A4ECCC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6201307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7667625" y="471487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010775" y="3238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67625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752850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75B69-4F18-4E4D-89A2-7DB527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From source crops to an inspectable shortlist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7E326-D507-47DF-BDFE-AD92737B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8E80-7AF5-444E-82C1-751EA33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Packaged inputs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Satellite crops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mapped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F2AF-DD1A-4910-9A5C-EDD3165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7D63-6BB0-46C6-9B5C-3173C9E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Quality screening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Cloud, coast and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common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953B-3BE7-4280-83CD-D0E31229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BB012-1D88-455D-B863-6BDE7667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300 m indicators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Temperature, green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buildings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C9AC-A423-4BEE-A12F-6C450D8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36AB-A26C-40A7-A3AE-31706D6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Relative ranking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Candidate rules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+ 13 scenarios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41B5-FF23-41F4-89C0-89CD878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27629-2523-40CB-8A87-E4ED447B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Local review + map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Use and shade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Site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9A4EA-640C-445F-88C2-A729442F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Deterministic processing; upstream WorldCover uses ML. Our own segmentation model is future work.</a:t>
            </a:r>
          </a:p>
        </p:txBody>
      </p:sp>
    </p:spTree>
    <p:extLst>
      <p:ext uri="{BB962C8B-B14F-4D97-AF65-F5344CB8AC3E}">
        <p14:creationId xmlns:p14="http://schemas.microsoft.com/office/powerpoint/2010/main" val="19868208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5B82B-6175-48B7-8B53-BE6FEDC9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study window and shortlist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68ebde06e4c1b"/>
          <a:stretch xmlns:a="http://schemas.openxmlformats.org/drawingml/2006/main"/>
        </p:blipFill>
        <p:spPr>
          <a:xfrm xmlns:a="http://schemas.openxmlformats.org/drawingml/2006/main">
            <a:off x="1706880" y="1415415"/>
            <a:ext cx="8778240" cy="438912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5C82E-F42A-4AFF-9F0C-6BB2D355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1,111 observed cells and 373 screened urban candidates. Analyst-defined window, approximately 116 km².</a:t>
            </a:r>
          </a:p>
        </p:txBody>
      </p:sp>
    </p:spTree>
    <p:extLst>
      <p:ext uri="{BB962C8B-B14F-4D97-AF65-F5344CB8AC3E}">
        <p14:creationId xmlns:p14="http://schemas.microsoft.com/office/powerpoint/2010/main" val="15511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80E31-7C66-4C12-AD25-487E40B3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2fadd3d094151"/>
          <a:stretch xmlns:a="http://schemas.openxmlformats.org/drawingml/2006/main"/>
        </p:blipFill>
        <p:spPr>
          <a:xfrm xmlns:a="http://schemas.openxmlformats.org/drawingml/2006/main">
            <a:off x="1081088" y="1295400"/>
            <a:ext cx="10029825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F3F46-B56D-4C61-B38B-ECB6297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14656345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70632-A757-478B-9FA5-10FAF3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Leading candidates change with the settings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Candidate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50.2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2.9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2-34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22468-CE84-4790-86F4-0242EDA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Bus-stop road: inspect waiting-time shade and access. Parking: check event use. Hospital land: confirm planned 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D8EA-4759-43AB-BE24-45E00D51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0% detected greenery does not mean no trees. V04-23's NDVI maxima are below 0.30; its ranking stays unchanged.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7962C-22AA-4D03-8694-B545C061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Rank ranges are scenario ranges,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1060568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8C7E8-47E6-4A26-AB97-0A2CBC3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EF39B-E617-4792-9118-3836701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F0AC-5ABE-4EE3-BC0F-750F1F8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C9E2-62F9-4E62-BB95-CA48FA92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Optical rule checks: 24/25 grass points pass; 0/30 building points pass. All 30 coastal points are excluded from thermal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631DC-6431-4F1F-88F1-01F01C54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73999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5575-8B47-4837-BCE1-5360E83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Potential impact and incubation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A283D-E81A-4C27-8383-EE26465B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Completed: reproducible satellite screening, sensitivity checks and local-review examples for site assessment.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4AE13-A5EA-4A95-AE7D-8B681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Next: detailed shade, use and access checks plus planner feedback; evaluate inspection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F9B66-2849-46D1-9C7A-427BD6C8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Future: comparable imagery across years, suitable VHR segmentation and verified shade, paving and human-use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F620-4262-4520-A674-2CE4EA0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current PoC does not measure urban expansion, health risk, causal cooling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462153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EFDBB-5A2B-4CA8-95D9-580DEF39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DE18-1EB9-4484-B2AF-939703EE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team coordination, site-visit confirmation and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3405E-9F84-4AAB-BFBC-D83B927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Almohannadi: supplied local observations for three cells.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821-664A-4B46-B4D3-000DC8F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Mohammed Almarri: test the map and document issues.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481E6-9679-437D-8E9B-93CDA5D7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Majed Alkuwari: review slides and explain the limitations.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F61C-907E-4050-90D4-949FF22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Ali Alkubaisi: demonstrate the project and prepare judge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7B568-62A5-4CFD-9BAC-18D5945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Nasser confirms site visits; detailed assessment and other assigned reviews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326947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C678B-F68F-466D-A9BC-51447DD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04AB2-7D13-4BF7-B647-B2AEF52D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data: Copernicus Sentinel via Earth Search; Landsat via Planetary Computer (USGS); WorldCover 2021; OSM.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07E2E-D67D-4810-A26A-63DFE053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Credits: modified Copernicus Sentinel data (2026); Landsat courtesy USGS; WorldCover CC BY 4.0; OSM ODbL.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1922-108A-4686-A8D0-CA02288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Discovery and verification resources: Copernicus Browser, NASA Earthdata and Bellingcat toolkit. These are not new analysis sources.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69E63-5643-4E4C-A957-BC08157F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DBD7B-0DB2-482F-9AF1-8CCE50B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Exact scene provenance and full licences accompany the package. Original code: MIT.</a:t>
            </a:r>
          </a:p>
        </p:txBody>
      </p:sp>
    </p:spTree>
    <p:extLst>
      <p:ext uri="{BB962C8B-B14F-4D97-AF65-F5344CB8AC3E}">
        <p14:creationId xmlns:p14="http://schemas.microsoft.com/office/powerpoint/2010/main" val="1819648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2026-10-06T07:29:07.9420000Z</dcterms:created>
  <dcterms:modified xsi:type="dcterms:W3CDTF">2026-10-06T07:29:07.9420000Z</dcterms:modified>
</coreProperties>
</file>