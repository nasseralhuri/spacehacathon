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693a4a3df8e49e7" Type="http://schemas.openxmlformats.org/officeDocument/2006/relationships/officeDocument" Target="ppt/presentation.xml"/><Relationship Id="R6552255447814ca8" Type="http://schemas.openxmlformats.org/officeDocument/2006/relationships/extended-properties" Target="docProps/app.xml"/><Relationship Id="Rc42f4ba6dd6348c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37e29670fc4762"/>
  </p:sldMasterIdLst>
  <p:notesMasterIdLst>
    <p:notesMasterId xmlns:r="http://schemas.openxmlformats.org/officeDocument/2006/relationships" r:id="R28d2207b92b74de5"/>
  </p:notesMasterIdLst>
  <p:sldIdLst>
    <p:sldId xmlns:r="http://schemas.openxmlformats.org/officeDocument/2006/relationships" id="256" r:id="Rf4dfa02a48924dcf"/>
    <p:sldId xmlns:r="http://schemas.openxmlformats.org/officeDocument/2006/relationships" id="257" r:id="R0250ceb3d43b4cc6"/>
    <p:sldId xmlns:r="http://schemas.openxmlformats.org/officeDocument/2006/relationships" id="258" r:id="Rc4430c007319428f"/>
    <p:sldId xmlns:r="http://schemas.openxmlformats.org/officeDocument/2006/relationships" id="259" r:id="Rb75867a560004dce"/>
    <p:sldId xmlns:r="http://schemas.openxmlformats.org/officeDocument/2006/relationships" id="260" r:id="Ra6ab6ed3f820402b"/>
    <p:sldId xmlns:r="http://schemas.openxmlformats.org/officeDocument/2006/relationships" id="261" r:id="Rccdadf42f21b4c97"/>
    <p:sldId xmlns:r="http://schemas.openxmlformats.org/officeDocument/2006/relationships" id="262" r:id="R3b750980735b4ee1"/>
    <p:sldId xmlns:r="http://schemas.openxmlformats.org/officeDocument/2006/relationships" id="263" r:id="R5c132eb2fd26463b"/>
    <p:sldId xmlns:r="http://schemas.openxmlformats.org/officeDocument/2006/relationships" id="264" r:id="R1e6dfe076abe496f"/>
    <p:sldId xmlns:r="http://schemas.openxmlformats.org/officeDocument/2006/relationships" id="265" r:id="R7dcee3cb8d6f4bc1"/>
    <p:sldId xmlns:r="http://schemas.openxmlformats.org/officeDocument/2006/relationships" id="266" r:id="Rb133d68c9d5a4136"/>
    <p:sldId xmlns:r="http://schemas.openxmlformats.org/officeDocument/2006/relationships" id="267" r:id="R9916258caeda43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50ceb3d43b4cc6" Type="http://schemas.openxmlformats.org/officeDocument/2006/relationships/slide" Target="slides/slide2.xml"/><Relationship Id="R1e6dfe076abe496f" Type="http://schemas.openxmlformats.org/officeDocument/2006/relationships/slide" Target="slides/slide9.xml"/><Relationship Id="R28d2207b92b74de5" Type="http://schemas.openxmlformats.org/officeDocument/2006/relationships/notesMaster" Target="notesMasters/notesMaster1.xml"/><Relationship Id="R3b750980735b4ee1" Type="http://schemas.openxmlformats.org/officeDocument/2006/relationships/slide" Target="slides/slide7.xml"/><Relationship Id="R4d6c77690adf4604" Type="http://schemas.openxmlformats.org/officeDocument/2006/relationships/presProps" Target="presProps.xml"/><Relationship Id="R5c132eb2fd26463b" Type="http://schemas.openxmlformats.org/officeDocument/2006/relationships/slide" Target="slides/slide8.xml"/><Relationship Id="R6e6162d7dfe84cbc" Type="http://schemas.openxmlformats.org/officeDocument/2006/relationships/tableStyles" Target="tableStyles.xml"/><Relationship Id="R7dcee3cb8d6f4bc1" Type="http://schemas.openxmlformats.org/officeDocument/2006/relationships/slide" Target="slides/slide10.xml"/><Relationship Id="R9916258caeda435b" Type="http://schemas.openxmlformats.org/officeDocument/2006/relationships/slide" Target="slides/slide12.xml"/><Relationship Id="Ra6ab6ed3f820402b" Type="http://schemas.openxmlformats.org/officeDocument/2006/relationships/slide" Target="slides/slide5.xml"/><Relationship Id="Rb133d68c9d5a4136" Type="http://schemas.openxmlformats.org/officeDocument/2006/relationships/slide" Target="slides/slide11.xml"/><Relationship Id="Rb75867a560004dce" Type="http://schemas.openxmlformats.org/officeDocument/2006/relationships/slide" Target="slides/slide4.xml"/><Relationship Id="Rc437e29670fc4762" Type="http://schemas.openxmlformats.org/officeDocument/2006/relationships/slideMaster" Target="slideMasters/slideMaster1.xml"/><Relationship Id="Rc4430c007319428f" Type="http://schemas.openxmlformats.org/officeDocument/2006/relationships/slide" Target="slides/slide3.xml"/><Relationship Id="Rccdadf42f21b4c97" Type="http://schemas.openxmlformats.org/officeDocument/2006/relationships/slide" Target="slides/slide6.xml"/><Relationship Id="Rf4dfa02a48924dcf" Type="http://schemas.openxmlformats.org/officeDocument/2006/relationships/slide" Target="slides/slide1.xml"/><Relationship Id="Rf53a525ea8854bba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fa2e0fd69a3349c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73d77c67c744317" Type="http://schemas.openxmlformats.org/officeDocument/2006/relationships/slide" Target="../slides/slide1.xml"/><Relationship Id="Rfa49527aba2d4f7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478ecf759324999" Type="http://schemas.openxmlformats.org/officeDocument/2006/relationships/slide" Target="../slides/slide2.xml"/><Relationship Id="R4fa24c1447764d8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c22d4e312e44b7d" Type="http://schemas.openxmlformats.org/officeDocument/2006/relationships/notesMaster" Target="../notesMasters/notesMaster1.xml"/><Relationship Id="R92907f49f6454ce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81dcdbac2b2496d" Type="http://schemas.openxmlformats.org/officeDocument/2006/relationships/slide" Target="../slides/slide4.xml"/><Relationship Id="R9a70b6d910a24eb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a2c2a53e3134dca" Type="http://schemas.openxmlformats.org/officeDocument/2006/relationships/slide" Target="../slides/slide5.xml"/><Relationship Id="Re1c99c894b7947c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a56d29ef21e43fb" Type="http://schemas.openxmlformats.org/officeDocument/2006/relationships/notesMaster" Target="../notesMasters/notesMaster1.xml"/><Relationship Id="R491073043e3b4e46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c26f76a1087a4b08" Type="http://schemas.openxmlformats.org/officeDocument/2006/relationships/slide" Target="../slides/slide7.xml"/><Relationship Id="Rd6c34493f1b5452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fbde23b5e8d4439" Type="http://schemas.openxmlformats.org/officeDocument/2006/relationships/notesMaster" Target="../notesMasters/notesMaster1.xml"/><Relationship Id="Re9092800c4324b1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a44250feb2442d1" Type="http://schemas.openxmlformats.org/officeDocument/2006/relationships/notesMaster" Target="../notesMasters/notesMaster1.xml"/><Relationship Id="Rb12be31a4e5644b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767554c143143bb" Type="http://schemas.openxmlformats.org/officeDocument/2006/relationships/notesMaster" Target="../notesMasters/notesMaster1.xml"/><Relationship Id="R81250bf7da7b4c5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e40fcc85dda47ef" Type="http://schemas.openxmlformats.org/officeDocument/2006/relationships/slide" Target="../slides/slide11.xml"/><Relationship Id="Rcdba83be9dde47c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a38918db327455b" Type="http://schemas.openxmlformats.org/officeDocument/2006/relationships/notesMaster" Target="../notesMasters/notesMaster1.xml"/><Relationship Id="Re9ce5055cb5942fe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draft. Theme: Urban Expansion, Land Use Change &amp; Heat Risk. The Al Khor README and supplied handover are the sources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problem and user need from README sections 1 and 2. No field interviews, exposure measurements or validated benefit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docs/Local-Review.md, results/local-greenery-audit.json and unchanged planning-cells.csv. Local observer: Abdulrahman Almohannadi; reports recorded 6 October 2026, observation date unspecified. Street View link supplied by Nasser: https://maps.app.goo.gl/gPEzxW3NFqErPWNP8 . Panorama McFzT23rIzQ4UJTSgSHFCQ, capture March 2023. Camera 25.7175476, 51.5145504 is inside V04-23, about 84 m from its centre, not a surveyed sign coordinate. It provides historical context, historical imagery, supplemented by Nasser's firsthand report. Some tree shadow is visible; shade varies. Nasser reports visiting the sites and confirms the described physical situation is the same as in September 2026; exact visit dates were not supplied. No passenger counts, cooling benefits or design recommendations are established. Street View imagery is linked, not redistributed. Google guidance: https://about.google/brand-resource-center/products-and-services/geo-guidelines/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scene.json, landsat-scene.json, metadata, README sections 3 and 4. Contains modified Copernicus Sentinel data (2026). Landsat courtesy USGS, doi:10.5066/P9OGBGM6. ESA WorldCover 2021 v200, Zanaga et al. (2022), CC BY 4.0, doi:10.5281/zenodo.7254220. OpenStreetMap contributors, ODbL 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workflow diagram. Methods are detailed in README section 4. Inputs are 35 hashed files; matching support is required for the two accepted thermal dates. Ranking is an investigation heuristic. Local review is a separate evidence stage. It does not alter the satellite ranking or create a human-use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results/local-review-map.png, packaged Sentinel-2 RGB 30 September 2026, app/local-review.json, aoi.geojson and unchanged planning-cells.geojson. Labels identify the full 300 m polygons. Teal dashed line is the analyst-defined study boundary. Local location names and uses are from Abdulrahman; Nasser confirms site visits and unchanged physical conditions relative to September 2026; exact visit dates unspecified, detailed assessment pending. V04-23 and V04-24 are adjacent; a nearby farmers market has not been assigned to a cell. Street View marker is the historical camera, not an exact stop point. Contains modified Copernicus Sentinel data (2026).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results/multidate-temperature.png and coastal-multidate-summary.json. The two accepted dates share screened support. Footprint is observed sample area, not total built-up city area. Surface temperature is not air temperature or heat-health risk. Updated display uses the two unchanged common-temp rasters with a common 30–60 °C scale. The rejected 6 September date is explained in text instead of an empty map; its exclusion record is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results/planning-summary.json, planning-sensitivity.csv and README section 8. Green-pixel share is thresholded NDVI, not subpixel vegetation fraction. Building coverage is contributed and incomplete. Candidate retained sample footprint totals 31.8195 km². Local observations: docs/Local-Review.md; Nasser confirms site visits; detailed assessment pending. V04-23 maxima are 0.26262 and 0.24985; matched-support shares at diagnostic threshold 0.20 are 2.7222% and 0.3889%. Nasser confirms roadside trees and unchanged physical conditions relative to September 2026 from site visits; exact visit dates were not supplied. This does not validate the optical threshold or vegetation health. Scenario ranks remain unchanged; no unique certified intervention site. The fixed score weights remain 50% heat, 30% inverse green, 20% mapped buildings.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sections 6 and 8, reference-samples.csv, notebook-verification.json when available. 20/30 coastal references agree with the spectral/QA screen. All 30 OSM water-polygon references disagree, with some contributed polygons spanning dry land. These positive-only agreement tests do not establish overall accuracy. Reproducibility does not establish scientific accuracy. Normal-kernel verification: https://github.com/NasserAlhuri/spaceHacathon/actions/runs/37269889977. Source commit 9781b95a46d86eb858ae9714ee53198ad22cfb6c. The executed notebook was retrieved from artifact 11328001190. All seven regenerated CSV tables match the supplied baseline byte for byte. These are rule-agreement checks on contributed positive reference points, not overall accuracy. The separate local pixel audit reproduces the baseline V04-23 result; it is not independent thermal or vegetation calibration.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next-stage activities, not completed work. See README sections 1, 2 and 8. A planner partnership, field validation and suitable imagery are dependencies; no partner agreement or funded incubation is claimed. No additional thermal date or historical change measurement was added in this local-review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Nasser selected responsibilities on 5 October 2026. Abdulrahman supplied the observations in the teammate notes, recorded 6 October 2026. Nasser reports visiting the sites and confirms the described physical situation is the same as in September 2026. Exact visit dates were not supplied; detailed measurements remain pending. Other members retain the assigned responsibilities, without claimed completion. Repository visibility verified public; submission requires final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 sections 3 and 10, DATA-LICENSES.md, scene.json, landsat-scene.json and metadata. These are dataset attributions, not claims of field validation. Instructor recommended Copernicus Browser (https://browser.dataspace.copernicus.eu/ ; official documentation checked: https://documentation.dataspace.copernicus.eu/Applications/Browser.html), NASA Earthdata supplied dashboard link (https://earthdata.nasa.gov/dashboard ; exact destination unconfirmed), Bellingcat geolocation toolkit (https://bellingcat.gitbook.io/toolkit/categories/geolocation ; checked). NASA Worldview was an additional suggestion, not the instructor exact link. No data provenance was changed to these portals. Full supplied instructor links and verification status are in docs/Discovery-Resources.md. Earth Search remains optical download provenance and Planetary Computer thermal provenance. WorldCover DOI and OSM licence above are retained. Street View reference is linked, capture March 2023; no Google imagery redistributed.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9bb25de3aa74bb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121c661741a402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692fd8dd26940be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68796ea9dc14f9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6b10bcb2ec094138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97391c8dd4d479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C83F314-1A4D-4D02-81D5-634D16BD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FBADD6-4158-4C74-9C39-C254FC5A1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61276EA-FB27-45B1-B775-39EF7089A7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1F0DC04-F2CB-4734-A176-BB21756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D6440A-F37E-4EC8-AA5C-6E476358D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E94DCD-C850-4A7C-B2E7-6AE576E3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43145C-0981-4FD0-8A44-F7B236CD5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7CD96CD-2700-41B5-9342-5C3368F5EF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5AF0E9-3E76-4747-A37E-497F5BFE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4698F6-EB5A-45DF-BC72-D0529A8F3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6D3FC5-3CAD-4983-A8DD-A48B2F2527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03D2FB-CEFB-43B3-9999-05D98C6280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316CF2F-12AF-48DA-BDC8-1005520C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21DA3B-08E8-462E-9B13-1D1510127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11C8A0-67AB-4348-9EE0-755B8CDC79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4a2e35cbca445b6" Type="http://schemas.openxmlformats.org/officeDocument/2006/relationships/slideLayout" Target="../slideLayouts/slideLayout1.xml"/><Relationship Id="R1efd1f59c2ea4a76" Type="http://schemas.openxmlformats.org/officeDocument/2006/relationships/slideLayout" Target="../slideLayouts/slideLayout6.xml"/><Relationship Id="R4babc2ac96dd42ea" Type="http://schemas.openxmlformats.org/officeDocument/2006/relationships/slideLayout" Target="../slideLayouts/slideLayout3.xml"/><Relationship Id="R81dba8897ec84de9" Type="http://schemas.openxmlformats.org/officeDocument/2006/relationships/theme" Target="theme/theme2.xml"/><Relationship Id="Ra5cbe0d6cd41483f" Type="http://schemas.openxmlformats.org/officeDocument/2006/relationships/slideLayout" Target="../slideLayouts/slideLayout2.xml"/><Relationship Id="Rab3c85198230416a" Type="http://schemas.openxmlformats.org/officeDocument/2006/relationships/slideLayout" Target="../slideLayouts/slideLayout4.xml"/><Relationship Id="Rab95646195c74f4a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2e35cbca445b6"/>
    <p:sldLayoutId xmlns:r="http://schemas.openxmlformats.org/officeDocument/2006/relationships" id="2147483650" r:id="Ra5cbe0d6cd41483f"/>
    <p:sldLayoutId xmlns:r="http://schemas.openxmlformats.org/officeDocument/2006/relationships" id="2147483651" r:id="R4babc2ac96dd42ea"/>
    <p:sldLayoutId xmlns:r="http://schemas.openxmlformats.org/officeDocument/2006/relationships" id="2147483652" r:id="Rab3c85198230416a"/>
    <p:sldLayoutId xmlns:r="http://schemas.openxmlformats.org/officeDocument/2006/relationships" id="2147483653" r:id="Rab95646195c74f4a"/>
    <p:sldLayoutId xmlns:r="http://schemas.openxmlformats.org/officeDocument/2006/relationships" id="2147483654" r:id="R1efd1f59c2ea4a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df8d7d45a134f46" Type="http://schemas.openxmlformats.org/officeDocument/2006/relationships/slideLayout" Target="../slideLayouts/slideLayout6.xml"/><Relationship Id="Rbb2301b54e7d4a2f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9c212b9138f464c" Type="http://schemas.openxmlformats.org/officeDocument/2006/relationships/notesSlide" Target="../notesSlides/notesSlide2.xml"/><Relationship Id="Rbe0e7dab23d54b1f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25e51386f8bf4de7" Type="http://schemas.openxmlformats.org/officeDocument/2006/relationships/slideLayout" Target="../slideLayouts/slideLayout6.xml"/><Relationship Id="R4aa0c2442eb7485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83dd6c58abe4679" Type="http://schemas.openxmlformats.org/officeDocument/2006/relationships/slideLayout" Target="../slideLayouts/slideLayout6.xml"/><Relationship Id="Rc6b97ecee15f44fc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906da37a13a440b" Type="http://schemas.openxmlformats.org/officeDocument/2006/relationships/notesSlide" Target="../notesSlides/notesSlide5.xml"/><Relationship Id="Rb29b191e2ffb49bd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0676d3710e6e4e8d" Type="http://schemas.openxmlformats.org/officeDocument/2006/relationships/notesSlide" Target="../notesSlides/notesSlide6.xml"/><Relationship Id="R243742fd3c8d4d0c" Type="http://schemas.openxmlformats.org/officeDocument/2006/relationships/slideLayout" Target="../slideLayouts/slideLayout6.xml"/><Relationship Id="Re0168ebde06e4c1b" Type="http://schemas.openxmlformats.org/officeDocument/2006/relationships/image" Target="../media/image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8f42fadd3d094151" Type="http://schemas.openxmlformats.org/officeDocument/2006/relationships/image" Target="../media/image2.png"/><Relationship Id="Rcb2b3595c5e241e8" Type="http://schemas.openxmlformats.org/officeDocument/2006/relationships/slideLayout" Target="../slideLayouts/slideLayout6.xml"/><Relationship Id="Rd9f31e30777347b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52d2066fb0b4107" Type="http://schemas.openxmlformats.org/officeDocument/2006/relationships/notesSlide" Target="../notesSlides/notesSlide8.xml"/><Relationship Id="Rbe2c44bc397e4d6c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b5efbc4c5b4e4039" Type="http://schemas.openxmlformats.org/officeDocument/2006/relationships/notesSlide" Target="../notesSlides/notesSlide9.xml"/><Relationship Id="Rfad4fc765170434a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668edc67a8ae4abb" Type="http://schemas.openxmlformats.org/officeDocument/2006/relationships/notesSlide" Target="../notesSlides/notesSlide10.xml"/><Relationship Id="R8677e58fe7f34e27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2d74ea5f0c5249d6" Type="http://schemas.openxmlformats.org/officeDocument/2006/relationships/notesSlide" Target="../notesSlides/notesSlide11.xml"/><Relationship Id="Rf7df3068b9144b09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22b9c89852ae4bd1" Type="http://schemas.openxmlformats.org/officeDocument/2006/relationships/slideLayout" Target="../slideLayouts/slideLayout6.xml"/><Relationship Id="Rb7ba90fa2b4f46b7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4380B-2D3C-429C-A4B3-3874A37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4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UrbanHeat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6C8FD-4D97-4EBB-BCFE-4E09545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Al Khor area study,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F48B9-803B-4273-8B02-E46EA5F1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Theme: Urban Expansion, Land Use Change &amp; Heat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7DD0-754F-4466-8431-843893E7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Satellite and local evidence for heat-protection site assessments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06FF0-E678-47D6-85FD-56BA6D94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Team Al Zubarah, Qatar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A5F29-45B6-4B22-9B04-7BC814A5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UAE Space Academy hackathon, October 2026</a:t>
            </a:r>
          </a:p>
        </p:txBody>
      </p:sp>
    </p:spTree>
    <p:extLst>
      <p:ext uri="{BB962C8B-B14F-4D97-AF65-F5344CB8AC3E}">
        <p14:creationId xmlns:p14="http://schemas.microsoft.com/office/powerpoint/2010/main" val="918971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E9A6E-1BFC-4A6F-BA9B-7DA7B475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The planning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2E879-0DF5-40EF-8CB9-BC1167E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Find hot cells, then check who uses them and when.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6DB36-8746-4414-89D2-8FEE2AB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Satellite screening helps organise visits; local review adds context about shade, access and planned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3C73F-E240-47C7-A4A5-4FEFC54E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Human exposure has not been measured. Trees, shelters and safer routes are options to assess.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92454-73BB-4C6F-BD2F-BB4B0F02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The prototype supports investigation; it does not establish heat-health risk.</a:t>
            </a:r>
          </a:p>
        </p:txBody>
      </p:sp>
    </p:spTree>
    <p:extLst>
      <p:ext uri="{BB962C8B-B14F-4D97-AF65-F5344CB8AC3E}">
        <p14:creationId xmlns:p14="http://schemas.microsoft.com/office/powerpoint/2010/main" val="1138529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B4741-726A-431A-B8BE-0DE6CE6E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Bus-stop site assessment: V04-23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C4DD0-4FBC-42FC-8E7A-B167CF75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Satellite: 50.4 °C mean of two cell medians; 0% detected green pixels at the current threshold.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9A8AB-F412-45ED-ACAF-66808CEA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Local evidence: roadside trees, no shelter and limited walking access; Nasser confirms site visits.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7BB14-1B93-4FE4-B4A6-7850C84D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Next check: waiting-time shade, passenger use, route safety, ownership and feasibility.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53E3A-9476-4F85-A1E8-E675CCD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300 m values are not stop measurements. Nasser confirms unchanged physical conditions; visit dates unspecified.</a:t>
            </a:r>
          </a:p>
        </p:txBody>
      </p:sp>
    </p:spTree>
    <p:extLst>
      <p:ext uri="{BB962C8B-B14F-4D97-AF65-F5344CB8AC3E}">
        <p14:creationId xmlns:p14="http://schemas.microsoft.com/office/powerpoint/2010/main" val="18840302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85394-0381-4E84-A1BC-31C66FA3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Open satellite data and mapped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87BBD-C9C0-439E-8013-25422BFA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Sentinel-2: green-pixel indicators from 5, 15 and 30 September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B1E9F-CAB5-401A-8B40-5421C993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Landsat: surface temperature from 14 and 30 September. The 6 September scene fails coverage QA.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FDA68-B5F2-4407-8B2C-A57F0764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WorldCover 2021: historical land-cover context. OpenStreetMap: contributed building footprints downloaded 5 October.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1F024-6130-4189-BA6B-37964BCA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No hyperspectral, 813 or proprietary VHR data are 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2663A-BCDB-45A6-B0FA-8A4ECCC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Thermal native detail is about 100 m, delivered on a 30 m grid. We report 300 m cells.</a:t>
            </a:r>
          </a:p>
        </p:txBody>
      </p:sp>
    </p:spTree>
    <p:extLst>
      <p:ext uri="{BB962C8B-B14F-4D97-AF65-F5344CB8AC3E}">
        <p14:creationId xmlns:p14="http://schemas.microsoft.com/office/powerpoint/2010/main" val="1620130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/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667625" y="471487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3D46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10775" y="323850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3D46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4765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3D46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752850" y="24765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3D46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75B69-4F18-4E4D-89A2-7DB527A5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From source crops to an inspectable shortlist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7E326-D507-47DF-BDFE-AD92737B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8"/>
          </a:solidFill>
          <a:ln xmlns:a="http://schemas.openxmlformats.org/drawingml/2006/main" w="9525">
            <a:solidFill>
              <a:srgbClr val="75908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88E80-7AF5-444E-82C1-751EA336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2800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Packaged inputs</a:t>
            </a:r>
          </a:p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Satellite crops</a:t>
            </a:r>
          </a:p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+ mapped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7F2AF-DD1A-4910-9A5C-EDD31656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8"/>
          </a:solidFill>
          <a:ln xmlns:a="http://schemas.openxmlformats.org/drawingml/2006/main" w="9525">
            <a:solidFill>
              <a:srgbClr val="75908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97D63-6BB0-46C6-9B5C-3173C9E7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14525"/>
            <a:ext cx="2800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Quality screening</a:t>
            </a:r>
          </a:p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Cloud, coast and</a:t>
            </a:r>
          </a:p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common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3953B-3BE7-4280-83CD-D0E3122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8"/>
          </a:solidFill>
          <a:ln xmlns:a="http://schemas.openxmlformats.org/drawingml/2006/main" w="9525">
            <a:solidFill>
              <a:srgbClr val="7590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BB012-1D88-455D-B863-6BDE7667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14525"/>
            <a:ext cx="2800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300 m indicators</a:t>
            </a:r>
          </a:p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Temperature, green</a:t>
            </a:r>
          </a:p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and buildings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5C9AC-A423-4BEE-A12F-6C450D85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5287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8"/>
          </a:solidFill>
          <a:ln xmlns:a="http://schemas.openxmlformats.org/drawingml/2006/main" w="9525">
            <a:solidFill>
              <a:srgbClr val="7590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136AB-A26C-40A7-A3AE-31706D60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52900"/>
            <a:ext cx="2800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Relative ranking</a:t>
            </a:r>
          </a:p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Candidate rules</a:t>
            </a:r>
          </a:p>
          <a:p xmlns:a="http://schemas.openxmlformats.org/drawingml/2006/main">
            <a:pPr>
              <a:buNone/>
              <a:def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+ 13 scenarios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641B5-FF23-41F4-89C0-89CD878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5287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1"/>
          </a:solidFill>
          <a:ln xmlns:a="http://schemas.openxmlformats.org/drawingml/2006/main" w="9525">
            <a:solidFill>
              <a:srgbClr val="7590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27629-2523-40CB-8A87-E4ED447B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52900"/>
            <a:ext cx="2800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Local review + map</a:t>
            </a:r>
          </a:p>
          <a:p xmlns:a="http://schemas.openxmlformats.org/drawingml/2006/main">
            <a:pPr>
              <a:buNone/>
              <a:defRPr sz="2175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Use and shade</a:t>
            </a:r>
          </a:p>
          <a:p xmlns:a="http://schemas.openxmlformats.org/drawingml/2006/main">
            <a:pPr>
              <a:buNone/>
              <a:defRPr sz="2175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Site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9A4EA-640C-445F-88C2-A729442F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Deterministic processing; upstream WorldCover uses ML. Our own segmentation model is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986820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5B82B-6175-48B7-8B53-BE6FEDC9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Al Khor presentation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5C82E-F42A-4AFF-9F0C-6BB2D355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00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Team-selected examples; all 1,111 observed cells and 373 candidates remain. The satellite top three are unchanged.</a:t>
            </a:r>
          </a:p>
        </p:txBody>
      </p:sp>
      <p:pic xmlns:a="http://schemas.openxmlformats.org/drawingml/2006/main" xmlns:r="http://schemas.openxmlformats.org/officeDocument/2006/relationships">
        <p:nvPicPr>
          <p:cNvPr id="5" name="Picture 4" descr="presentation-case-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415415"/>
            <a:ext cx="10972800" cy="368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55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80E31-7C66-4C12-AD25-487E40B3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Matched surface-temperature observations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2fadd3d094151"/>
          <a:stretch xmlns:a="http://schemas.openxmlformats.org/drawingml/2006/main"/>
        </p:blipFill>
        <p:spPr>
          <a:xfrm xmlns:a="http://schemas.openxmlformats.org/drawingml/2006/main">
            <a:off x="1081088" y="1295400"/>
            <a:ext cx="10029825" cy="4629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F3F46-B56D-4C61-B38B-ECB62974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94.4379 km² of common inland sample footprints across the broad study window.</a:t>
            </a:r>
          </a:p>
        </p:txBody>
      </p:sp>
    </p:spTree>
    <p:extLst>
      <p:ext uri="{BB962C8B-B14F-4D97-AF65-F5344CB8AC3E}">
        <p14:creationId xmlns:p14="http://schemas.microsoft.com/office/powerpoint/2010/main" val="1465634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70632-A757-478B-9FA5-10FAF342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Three examples for site investigation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95500"/>
                <a:gridCol w="1905000"/>
                <a:gridCol w="2286000"/>
                <a:gridCol w="2686050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Case study</a:t>
                      </a:r>
                    </a:p>
                  </a:txBody>
                  <a:tcPr marL="114300" marR="114300" marT="95250" marB="95250">
                    <a:solidFill>
                      <a:srgbClr val="163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Surface °C*</a:t>
                      </a:r>
                    </a:p>
                  </a:txBody>
                  <a:tcPr marL="114300" marR="114300" marT="95250" marB="95250">
                    <a:solidFill>
                      <a:srgbClr val="163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Green %*</a:t>
                      </a:r>
                    </a:p>
                  </a:txBody>
                  <a:tcPr marL="114300" marR="114300" marT="95250" marB="95250">
                    <a:solidFill>
                      <a:srgbClr val="163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Buildings %</a:t>
                      </a:r>
                    </a:p>
                  </a:txBody>
                  <a:tcPr marL="114300" marR="114300" marT="95250" marB="95250">
                    <a:solidFill>
                      <a:srgbClr val="163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Rank range</a:t>
                      </a:r>
                    </a:p>
                  </a:txBody>
                  <a:tcPr marL="114300" marR="114300" marT="95250" marB="95250">
                    <a:solidFill>
                      <a:srgbClr val="163D4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V04-23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50.4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0.0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2.3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1-14</a:t>
                      </a:r>
                    </a:p>
                  </a:txBody>
                  <a:tcPr marL="114300" marR="114300" marT="95250" marB="9525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V28-17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50.0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0.0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0.1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1-23</a:t>
                      </a:r>
                    </a:p>
                  </a:txBody>
                  <a:tcPr marL="114300" marR="114300" marT="95250" marB="9525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V18-26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47.47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0.0386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0.0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138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203–336</a:t>
                      </a:r>
                    </a:p>
                  </a:txBody>
                  <a:tcPr marL="114300" marR="114300" marT="95250" marB="952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22468-CE84-4790-86F4-0242EDA2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Bus stop: waiting-area shade. Stadium: event use. Jogging route: reported lack of path shade; dated evidence pending.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1D8EA-4759-43AB-BE24-45E00D51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Team-selected examples, not the top three ranks. V18-26 ranks 275/373; hospital land stays in the full results. Visits do not measure use or shade.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7962C-22AA-4D03-8694-B545C061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50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*Means of date-level cell summaries. V18-26: 48.02/46.92°C; 72% coverage. Scenario ranges are not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1060568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8C7E8-47E6-4A26-AB97-0A2CBC33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Reproducibility and reference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EF39B-E617-4792-9118-3836701C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The package includes 35 hashed input files, source metadata and pinned Python 3.12 dependencies.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2F0AC-5ABE-4EE3-BC0F-750F1F8C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Clean GitHub execution passed through a normal Jupyter kernel: five cells, zero errors and all 35 input hashes verified.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FC9E2-62F9-4E62-BB95-CA48FA9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Optical rule checks: 24/25 grass points pass; 0/30 building points pass. All 30 coastal points are excluded from thermal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631DC-6431-4F1F-88F1-01F01C54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Contributed reference labels have conflicts. Human confirmation and independent thermal validation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73999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C5575-8B47-4837-BCE1-5360E83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Potential impact and incubation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A283D-E81A-4C27-8383-EE26465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Completed: reproducible satellite screening, sensitivity checks and local-review examples for site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4AE13-A5EA-4A95-AE7D-8B6818F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Next: detailed shade, use and access checks plus planner feedback; evaluate inspection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F9B66-2849-46D1-9C7A-427BD6C8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Prepared: September 2021/2026 Dynamic World comparison code. Earth Engine access, local coverage and validation are blocked; 2023 is deferred.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7F620-4262-4520-A674-2CE4EA05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The current PoC does not measure urban expansion, health risk, causal cooling or long-term warming.</a:t>
            </a:r>
          </a:p>
        </p:txBody>
      </p:sp>
    </p:spTree>
    <p:extLst>
      <p:ext uri="{BB962C8B-B14F-4D97-AF65-F5344CB8AC3E}">
        <p14:creationId xmlns:p14="http://schemas.microsoft.com/office/powerpoint/2010/main" val="1462153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EFDBB-5A2B-4CA8-95D9-580DEF39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Team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3DE18-1EB9-4484-B2AF-939703EE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Nasser Alhuri: team coordination, site-visit confirmation and submission.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3405E-9F84-4AAB-BFBC-D83B9270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Abdulrahman Almohannadi: review the project; collect dated photographs and local observations.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E8821-664A-4B46-B4D3-000DC8FB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Mohammed Almarri: practise the presentation and explain the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481E6-9679-437D-8E9B-93CDA5D7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Majed Alkuwari: review slides and explain the limitations.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8F61C-907E-4050-90D4-949FF22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Ali Alkubaisi: demonstrate the project and prepare judge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7B568-62A5-4CFD-9BAC-18D5945A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00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Original site visits confirmed; photographs, detailed assessment and member reviews/rehearsals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3269479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C678B-F68F-466D-A9BC-51447DD0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D46"/>
                </a:solidFill>
                <a:latin typeface="Bitstream Charter"/>
                <a:ea typeface="Bitstream Charter"/>
                <a:cs typeface="Bitstream Charter"/>
              </a:rPr>
              <a:t>Data attribution and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04AB2-7D13-4BF7-B647-B2AEF52D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Actual data: Copernicus Sentinel via Earth Search; Landsat via Planetary Computer (USGS); WorldCover 2021; OSM.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07E2E-D67D-4810-A26A-63DFE05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Credits: modified Copernicus Sentinel data (2026); Landsat courtesy USGS; WorldCover CC BY 4.0; OSM ODbL.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51922-108A-4686-A8D0-CA022884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>Consulted/planned: Dynamic World documentation (data not retrieved), Copernicus Browser, NASA Earthdata and Bellingcat. These are separate from actual analysis 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69E63-5643-4E4C-A957-BC08157F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213846"/>
                </a:solidFill>
                <a:latin typeface="Bitstream Charter"/>
                <a:ea typeface="Bitstream Charter"/>
                <a:cs typeface="Bitstream Charter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DBD7B-0DB2-482F-9AF1-8CCE50BE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569"/>
                </a:solidFill>
                <a:latin typeface="Bitstream Charter"/>
                <a:ea typeface="Bitstream Charter"/>
                <a:cs typeface="Bitstream Charter"/>
              </a:rPr>
              <a:t>Exact scene provenance and full licences accompany the package. Original code: MIT.</a:t>
            </a:r>
          </a:p>
        </p:txBody>
      </p:sp>
    </p:spTree>
    <p:extLst>
      <p:ext uri="{BB962C8B-B14F-4D97-AF65-F5344CB8AC3E}">
        <p14:creationId xmlns:p14="http://schemas.microsoft.com/office/powerpoint/2010/main" val="1819648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2026-10-06T07:29:07.9420000Z</dcterms:created>
  <dcterms:modified xsi:type="dcterms:W3CDTF">2026-10-06T07:29:07.9420000Z</dcterms:modified>
</coreProperties>
</file>