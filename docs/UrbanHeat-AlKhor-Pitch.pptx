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cafc437b7ba4a0c" /><Relationship Type="http://schemas.openxmlformats.org/officeDocument/2006/relationships/extended-properties" Target="/docProps/app.xml" Id="R1da6e5561f114d2c" /><Relationship Type="http://schemas.openxmlformats.org/officeDocument/2006/relationships/officeDocument" Target="/ppt/presentation.xml" Id="R7b3abf030ace41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9b5e6d0090e471f"/>
  </p:sldMasterIdLst>
  <p:notesMasterIdLst>
    <p:notesMasterId xmlns:r="http://schemas.openxmlformats.org/officeDocument/2006/relationships" r:id="Rae1f87207e8d41d3"/>
  </p:notesMasterIdLst>
  <p:sldIdLst>
    <p:sldId xmlns:r="http://schemas.openxmlformats.org/officeDocument/2006/relationships" id="256" r:id="R7ad63c7350a24cb8"/>
    <p:sldId xmlns:r="http://schemas.openxmlformats.org/officeDocument/2006/relationships" id="257" r:id="R05bcd668e3184890"/>
    <p:sldId xmlns:r="http://schemas.openxmlformats.org/officeDocument/2006/relationships" id="258" r:id="R98884ac51eb2409d"/>
    <p:sldId xmlns:r="http://schemas.openxmlformats.org/officeDocument/2006/relationships" id="259" r:id="Rd31bb4790a534889"/>
    <p:sldId xmlns:r="http://schemas.openxmlformats.org/officeDocument/2006/relationships" id="260" r:id="R8180472a85584b92"/>
    <p:sldId xmlns:r="http://schemas.openxmlformats.org/officeDocument/2006/relationships" id="261" r:id="R1a8f3709d29e4218"/>
    <p:sldId xmlns:r="http://schemas.openxmlformats.org/officeDocument/2006/relationships" id="262" r:id="R4825db9f5711471e"/>
    <p:sldId xmlns:r="http://schemas.openxmlformats.org/officeDocument/2006/relationships" id="263" r:id="Rfb972e8293744935"/>
    <p:sldId xmlns:r="http://schemas.openxmlformats.org/officeDocument/2006/relationships" id="264" r:id="R92093056806048e0"/>
    <p:sldId xmlns:r="http://schemas.openxmlformats.org/officeDocument/2006/relationships" id="265" r:id="Rfdb04b198bb24b6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396accc44744820" /><Relationship Type="http://schemas.openxmlformats.org/officeDocument/2006/relationships/slideMaster" Target="/ppt/slideMasters/slideMaster1.xml" Id="R29b5e6d0090e471f" /><Relationship Type="http://schemas.openxmlformats.org/officeDocument/2006/relationships/notesMaster" Target="/ppt/notesMasters/notesMaster1.xml" Id="Rae1f87207e8d41d3" /><Relationship Type="http://schemas.openxmlformats.org/officeDocument/2006/relationships/presProps" Target="/ppt/presProps.xml" Id="R522e213686bb4c4a" /><Relationship Type="http://schemas.openxmlformats.org/officeDocument/2006/relationships/tableStyles" Target="/ppt/tableStyles.xml" Id="R752e4013ad5341b6" /><Relationship Type="http://schemas.openxmlformats.org/officeDocument/2006/relationships/slide" Target="/ppt/slides/slide1.xml" Id="R7ad63c7350a24cb8" /><Relationship Type="http://schemas.openxmlformats.org/officeDocument/2006/relationships/slide" Target="/ppt/slides/slide2.xml" Id="R05bcd668e3184890" /><Relationship Type="http://schemas.openxmlformats.org/officeDocument/2006/relationships/slide" Target="/ppt/slides/slide3.xml" Id="R98884ac51eb2409d" /><Relationship Type="http://schemas.openxmlformats.org/officeDocument/2006/relationships/slide" Target="/ppt/slides/slide4.xml" Id="Rd31bb4790a534889" /><Relationship Type="http://schemas.openxmlformats.org/officeDocument/2006/relationships/slide" Target="/ppt/slides/slide5.xml" Id="R8180472a85584b92" /><Relationship Type="http://schemas.openxmlformats.org/officeDocument/2006/relationships/slide" Target="/ppt/slides/slide6.xml" Id="R1a8f3709d29e4218" /><Relationship Type="http://schemas.openxmlformats.org/officeDocument/2006/relationships/slide" Target="/ppt/slides/slide7.xml" Id="R4825db9f5711471e" /><Relationship Type="http://schemas.openxmlformats.org/officeDocument/2006/relationships/slide" Target="/ppt/slides/slide8.xml" Id="Rfb972e8293744935" /><Relationship Type="http://schemas.openxmlformats.org/officeDocument/2006/relationships/slide" Target="/ppt/slides/slide9.xml" Id="R92093056806048e0" /><Relationship Type="http://schemas.openxmlformats.org/officeDocument/2006/relationships/slide" Target="/ppt/slides/slide10.xml" Id="Rfdb04b198bb24b6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facf81fbe984e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1a2b5e5bf6d4ba8" /><Relationship Type="http://schemas.openxmlformats.org/officeDocument/2006/relationships/notesMaster" Target="/ppt/notesMasters/notesMaster1.xml" Id="Rf64537878be44da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f376181464b4e81" /><Relationship Type="http://schemas.openxmlformats.org/officeDocument/2006/relationships/notesMaster" Target="/ppt/notesMasters/notesMaster1.xml" Id="Rf416e173474a40e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12d827ae0734f9a" /><Relationship Type="http://schemas.openxmlformats.org/officeDocument/2006/relationships/notesMaster" Target="/ppt/notesMasters/notesMaster1.xml" Id="R736ba367cfa246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f77a22ceb2c4f85" /><Relationship Type="http://schemas.openxmlformats.org/officeDocument/2006/relationships/notesMaster" Target="/ppt/notesMasters/notesMaster1.xml" Id="R08b3b11aa49a4b5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9daeeeccd344bee" /><Relationship Type="http://schemas.openxmlformats.org/officeDocument/2006/relationships/notesMaster" Target="/ppt/notesMasters/notesMaster1.xml" Id="R623c7b56dd254d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28c4148e9434067" /><Relationship Type="http://schemas.openxmlformats.org/officeDocument/2006/relationships/notesMaster" Target="/ppt/notesMasters/notesMaster1.xml" Id="R94910660403e4c3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263fb07060482d" /><Relationship Type="http://schemas.openxmlformats.org/officeDocument/2006/relationships/notesMaster" Target="/ppt/notesMasters/notesMaster1.xml" Id="R40ec6f0cd60f4d6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6ce0575f697412f" /><Relationship Type="http://schemas.openxmlformats.org/officeDocument/2006/relationships/notesMaster" Target="/ppt/notesMasters/notesMaster1.xml" Id="Rab0dd9db6f934b5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93faa2a58e14426" /><Relationship Type="http://schemas.openxmlformats.org/officeDocument/2006/relationships/notesMaster" Target="/ppt/notesMasters/notesMaster1.xml" Id="R5d019bcd1b6444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6a6389391f94022" /><Relationship Type="http://schemas.openxmlformats.org/officeDocument/2006/relationships/notesMaster" Target="/ppt/notesMasters/notesMaster1.xml" Id="R9c2ae58180674c6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Review draft. Theme: Urban Expansion, Land Use Change &amp; Heat Risk. The Al Khor README and supplied handover are the sources for this deck.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sections 1, 2 and 8. The use case is proposed, not validated with users.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scene.json, landsat-scene.json, metadata, README sections 3 and 4. Contains modified Copernicus Sentinel data (2026). Landsat courtesy USGS, doi:10.5066/P9OGBGM6. ESA WorldCover 2021 v200, Zanaga et al. (2022), CC BY 4.0, doi:10.5281/zenodo.7254220. OpenStreetMap contributors, ODbL 1.0.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results/planning-map.png, results/planning-summary.json and aoi.geojson. WGS84 window 51.445-51.555 E, 25.635-25.730 N. Includes city, northern edge, Al Bayt Stadium and surrounding context. It is not an official administrative boundary. All source-image labels must remain visible.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results/multidate-temperature.png and coastal-multidate-summary.json. The two accepted dates share screened support. Footprint is observed sample area, not total built-up city area. Surface temperature is not air temperature or heat-health risk.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results/planning-summary.json, planning-sensitivity.csv and README section 8. Green-pixel share is thresholded NDVI, not subpixel vegetation fraction. Building coverage is contributed and incomplete. Candidate retained sample footprint totals 31.8195 km².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sections 6 and 8, reference-samples.csv, notebook-verification.json when available. 20/30 coastal references agree with the spectral/QA screen. All 30 OSM water-polygon references disagree, with some contributed polygons spanning dry land. These positive-only agreement tests do not establish overall accuracy. Reproducibility does not establish scientific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sections 2 and 8 and handover. No proprietary VHR imagery or own segmentation model is used. ST_QA reports product uncertainty and does not include every systematic error. Two morning dates cannot establish long-term change.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README section 9 and handover. Do not invent contributions. Prior dashboard reported two Signed in and three Pending, not rechecked in this workspace. Deadline conflict remains unresolved. Nothing has been submitted.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 sections 3 and 10, DATA-LICENSES.md, scene.json, landsat-scene.json and metadata. These are dataset attributions, not claims of field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8760414501493e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5251352d034c3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f2bdeb8f3c47b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1e8b7bcacef4fc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48a861406349b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092240f02e47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D9EF4FF-1324-4208-BABB-E978D3A3A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2098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F525DBC5-6563-4B75-B6FD-1CB9E6CC21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0642550B-D477-42F8-A770-8E71474F8206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Accent rule">
            <a:extLst xmlns:a="http://schemas.openxmlformats.org/drawingml/2006/main">
              <a:ext uri="{FF2B5EF4-FFF2-40B4-BE49-F238E27FC236}">
                <a16:creationId xmlns:a16="http://schemas.microsoft.com/office/drawing/2014/main" id="{15C38C32-31B3-459A-99B3-62B2F4F3C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765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485664FB-F00B-4956-8D93-B811E045FC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22DA991B-0A26-4489-8ED6-A25AF85DB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9BB009B-8E2C-49CF-BE9A-CBD0D4C557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2C59126-2183-48C6-95BC-04EE63639DC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Accent rule">
            <a:extLst xmlns:a="http://schemas.openxmlformats.org/drawingml/2006/main">
              <a:ext uri="{FF2B5EF4-FFF2-40B4-BE49-F238E27FC236}">
                <a16:creationId xmlns:a16="http://schemas.microsoft.com/office/drawing/2014/main" id="{23F097F9-A922-4AD5-B682-EE7ECE4EC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AA82C2E-06EC-4916-95A6-319A3521FF7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A368AF5-074D-4AAE-B546-C2A7E3E8FD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4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F1FE9C5A-82BB-4423-B497-4551B68C2D9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Accent rule">
            <a:extLst xmlns:a="http://schemas.openxmlformats.org/drawingml/2006/main">
              <a:ext uri="{FF2B5EF4-FFF2-40B4-BE49-F238E27FC236}">
                <a16:creationId xmlns:a16="http://schemas.microsoft.com/office/drawing/2014/main" id="{025F0749-E31E-451A-B580-DB5550314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24000"/>
            <a:ext cx="6096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72228C82-122B-493C-B467-015616465D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3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24B4903-DE7E-47BA-96CB-35452D9623A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57fe3622e345f3" /><Relationship Type="http://schemas.openxmlformats.org/officeDocument/2006/relationships/slideLayout" Target="/ppt/slideLayouts/slideLayout1.xml" Id="Reebee5c8acf84ac9" /><Relationship Type="http://schemas.openxmlformats.org/officeDocument/2006/relationships/slideLayout" Target="/ppt/slideLayouts/slideLayout2.xml" Id="Rad09a3a0e03a46a2" /><Relationship Type="http://schemas.openxmlformats.org/officeDocument/2006/relationships/slideLayout" Target="/ppt/slideLayouts/slideLayout3.xml" Id="Rf1c1eeadb90044b6" /><Relationship Type="http://schemas.openxmlformats.org/officeDocument/2006/relationships/slideLayout" Target="/ppt/slideLayouts/slideLayout4.xml" Id="R110ae852861d48e7" /><Relationship Type="http://schemas.openxmlformats.org/officeDocument/2006/relationships/slideLayout" Target="/ppt/slideLayouts/slideLayout5.xml" Id="Ra333be8968d5412c" /><Relationship Type="http://schemas.openxmlformats.org/officeDocument/2006/relationships/slideLayout" Target="/ppt/slideLayouts/slideLayout6.xml" Id="R280242c6292e433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ebee5c8acf84ac9"/>
    <p:sldLayoutId xmlns:r="http://schemas.openxmlformats.org/officeDocument/2006/relationships" id="2147483650" r:id="Rad09a3a0e03a46a2"/>
    <p:sldLayoutId xmlns:r="http://schemas.openxmlformats.org/officeDocument/2006/relationships" id="2147483651" r:id="Rf1c1eeadb90044b6"/>
    <p:sldLayoutId xmlns:r="http://schemas.openxmlformats.org/officeDocument/2006/relationships" id="2147483652" r:id="R110ae852861d48e7"/>
    <p:sldLayoutId xmlns:r="http://schemas.openxmlformats.org/officeDocument/2006/relationships" id="2147483653" r:id="Ra333be8968d5412c"/>
    <p:sldLayoutId xmlns:r="http://schemas.openxmlformats.org/officeDocument/2006/relationships" id="2147483654" r:id="R280242c6292e433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dac739db374fe6" /><Relationship Type="http://schemas.openxmlformats.org/officeDocument/2006/relationships/notesSlide" Target="/ppt/notesSlides/notesSlide1.xml" Id="Rf59073f0cdf9490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33f40c607d4c57" /><Relationship Type="http://schemas.openxmlformats.org/officeDocument/2006/relationships/notesSlide" Target="/ppt/notesSlides/notesSlide2.xml" Id="Rfa3179b099b94c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ff2475d726d4f16" /><Relationship Type="http://schemas.openxmlformats.org/officeDocument/2006/relationships/notesSlide" Target="/ppt/notesSlides/notesSlide3.xml" Id="Ra9c6df9185e34fc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1eca1afed4f4a2c" /><Relationship Type="http://schemas.openxmlformats.org/officeDocument/2006/relationships/image" Target="/ppt/media/image.png" Id="Rc2badd1924d048d6" /><Relationship Type="http://schemas.openxmlformats.org/officeDocument/2006/relationships/notesSlide" Target="/ppt/notesSlides/notesSlide4.xml" Id="R9ac140c164c44b3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d2d73e67be8408e" /><Relationship Type="http://schemas.openxmlformats.org/officeDocument/2006/relationships/image" Target="/ppt/media/image2.png" Id="Rd5f85077fa06453f" /><Relationship Type="http://schemas.openxmlformats.org/officeDocument/2006/relationships/notesSlide" Target="/ppt/notesSlides/notesSlide5.xml" Id="Rebf7b62ef62d49e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7b7d56530e422e" /><Relationship Type="http://schemas.openxmlformats.org/officeDocument/2006/relationships/notesSlide" Target="/ppt/notesSlides/notesSlide6.xml" Id="Rbbcc376aa61d4f4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f69c8e34ed43e6" /><Relationship Type="http://schemas.openxmlformats.org/officeDocument/2006/relationships/notesSlide" Target="/ppt/notesSlides/notesSlide7.xml" Id="Rcd77afc8521b412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08d4382c1f46e8" /><Relationship Type="http://schemas.openxmlformats.org/officeDocument/2006/relationships/notesSlide" Target="/ppt/notesSlides/notesSlide8.xml" Id="Rb14a7e7117c6451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76fd2c3a884db8" /><Relationship Type="http://schemas.openxmlformats.org/officeDocument/2006/relationships/notesSlide" Target="/ppt/notesSlides/notesSlide9.xml" Id="R9a799930e280464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efc93eacf34c3d" /><Relationship Type="http://schemas.openxmlformats.org/officeDocument/2006/relationships/notesSlide" Target="/ppt/notesSlides/notesSlide10.xml" Id="Rc3253b0c562047a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3E543C-ACFA-49E0-BD89-061F60B1C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54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UrbanHeat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B8EB54-FE8A-4A34-B0A2-4072383D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0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Al Khor area study, Qatar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18271A-75DA-489F-BD6C-364313F48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7662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Satellite indicators for urban-planning site visits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41D7D-C420-4687-BF5A-1317B5CCF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Team Al Zubarah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A7E298-9604-4588-BAAF-9D053D39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25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UAE Space Academy hackathon, 5 October 2026</a:t>
            </a:r>
          </a:p>
        </p:txBody>
      </p:sp>
    </p:spTree>
    <p:extLst>
      <p:ext uri="{BB962C8B-B14F-4D97-AF65-F5344CB8AC3E}">
        <p14:creationId xmlns:p14="http://schemas.microsoft.com/office/powerpoint/2010/main" val="11681237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5E0963-DB8B-477C-AF08-CB700AF9C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Planning use case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1A89F7-7D16-4CCF-8387-D44A6CAED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 planner needs a shortlist of places to inspect for shade or planting.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B716589-E6C4-41DF-A22A-46B363566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 map shows observed surface temperature, green signal and mapped buildings for each cell.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A31F4F-8455-4502-9C36-FD386E9BC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 site visit must establish pedestrian activity, existing shade, ownership and feasibility.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AD4358-8208-4717-9300-5B606D9E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No user interview, measured time saving or cooling benefit is claimed.</a:t>
            </a:r>
          </a:p>
        </p:txBody>
      </p:sp>
    </p:spTree>
    <p:extLst>
      <p:ext uri="{BB962C8B-B14F-4D97-AF65-F5344CB8AC3E}">
        <p14:creationId xmlns:p14="http://schemas.microsoft.com/office/powerpoint/2010/main" val="8194910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E507EE-C0D7-464C-95C2-CDD53AE06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Open satellite data and mapped context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EA6C7A-4169-401A-B9D7-CE9638E5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Sentinel-2: green-pixel indicators from 5, 15 and 30 September 2026.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4ECBAC-88B0-4E35-93BC-F7F66569F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Landsat: surface temperature from 14 and 30 September. The 6 September scene fails coverage QA.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58EA27-529E-4B0B-8928-DABF37C13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WorldCover 2021: historical land-cover context. OpenStreetMap: contributed building footprints downloaded 5 October.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2D146D-5CCF-4764-9FE0-AFAC30A1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Thermal native detail is about 100 m, delivered on a 30 m grid. We report 300 m cells.</a:t>
            </a:r>
          </a:p>
        </p:txBody>
      </p:sp>
    </p:spTree>
    <p:extLst>
      <p:ext uri="{BB962C8B-B14F-4D97-AF65-F5344CB8AC3E}">
        <p14:creationId xmlns:p14="http://schemas.microsoft.com/office/powerpoint/2010/main" val="170511414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6F87DF-3847-4EB0-AA30-3ACE769A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Al Khor study window and shortlist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badd1924d048d6"/>
          <a:stretch xmlns:a="http://schemas.openxmlformats.org/drawingml/2006/main"/>
        </p:blipFill>
        <p:spPr>
          <a:xfrm xmlns:a="http://schemas.openxmlformats.org/drawingml/2006/main">
            <a:off x="609600" y="1415415"/>
            <a:ext cx="10972800" cy="438912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8814E1-CBF7-41AC-B048-491A9B9A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1,111 observed cells and 373 screened urban candidates. Analyst-defined window, approximately 116 km².</a:t>
            </a:r>
          </a:p>
        </p:txBody>
      </p:sp>
    </p:spTree>
    <p:extLst>
      <p:ext uri="{BB962C8B-B14F-4D97-AF65-F5344CB8AC3E}">
        <p14:creationId xmlns:p14="http://schemas.microsoft.com/office/powerpoint/2010/main" val="21045361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8E02D-23BE-47C9-ACB3-55E559E47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Matched surface-temperature observations</a:t>
            </a:r>
          </a:p>
        </p:txBody>
      </p:sp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f85077fa06453f"/>
          <a:stretch xmlns:a="http://schemas.openxmlformats.org/drawingml/2006/main"/>
        </p:blipFill>
        <p:spPr>
          <a:xfrm xmlns:a="http://schemas.openxmlformats.org/drawingml/2006/main">
            <a:off x="695325" y="1295400"/>
            <a:ext cx="10801350" cy="46291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4B020C-C857-4875-A6D5-5907EE66D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94.4379 km² of common inland sample footprints across the broad study window.</a:t>
            </a:r>
          </a:p>
        </p:txBody>
      </p:sp>
    </p:spTree>
    <p:extLst>
      <p:ext uri="{BB962C8B-B14F-4D97-AF65-F5344CB8AC3E}">
        <p14:creationId xmlns:p14="http://schemas.microsoft.com/office/powerpoint/2010/main" val="2520404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5D518C-93A4-4E7C-A4FE-481C4985B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Leading candidates change with the settings</a:t>
            </a:r>
          </a:p>
        </p:txBody>
      </p:sp>
      <p:graphicFrame>
        <p:nvGraphicFramePr>
          <p:cNvPr id="7" name=""/>
          <p:cNvGraphicFramePr/>
          <p:nvPr/>
        </p:nvGraphicFramePr>
        <p:xfrm>
          <a:off xmlns:a="http://schemas.openxmlformats.org/drawingml/2006/main" x="609600" y="1428750"/>
          <a:ext xmlns:a="http://schemas.openxmlformats.org/drawingml/2006/main" cx="10972800" cy="2362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2095500"/>
                <a:gridCol w="1905000"/>
                <a:gridCol w="2286000"/>
                <a:gridCol w="2686050"/>
              </a:tblGrid>
              <a:tr h="590550"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Candidate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Surface °C*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Green %*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Buildings %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25" b="1">
                          <a:solidFill>
                            <a:srgbClr val="FFFFFF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Rank range</a:t>
                      </a:r>
                    </a:p>
                  </a:txBody>
                  <a:tcPr marL="114300" marR="114300" marT="95250" marB="95250">
                    <a:solidFill>
                      <a:srgbClr val="163D46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V04-23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2.3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1-14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V28-17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0.0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0.1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1-23</a:t>
                      </a:r>
                    </a:p>
                  </a:txBody>
                  <a:tcPr marL="114300" marR="114300" marT="95250" marB="95250"/>
                </a:tc>
              </a:tr>
              <a:tr h="590550"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V04-24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50.2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0.1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2.9</a:t>
                      </a:r>
                    </a:p>
                  </a:txBody>
                  <a:tcPr marL="114300" marR="114300" marT="95250" marB="95250"/>
                </a:tc>
                <a:tc>
                  <a:txBody>
                    <a:bodyPr/>
                    <a:lstStyle/>
                    <a:p>
                      <a:r>
                        <a:rPr sz="2100">
                          <a:solidFill>
                            <a:srgbClr val="213846"/>
                          </a:solidFill>
                          <a:latin typeface="Bitstream Charter"/>
                          <a:ea typeface="Bitstream Charter"/>
                          <a:cs typeface="Bitstream Charter"/>
                        </a:rPr>
                        <a:t>2-34</a:t>
                      </a:r>
                    </a:p>
                  </a:txBody>
                  <a:tcPr marL="114300" marR="114300" marT="95250" marB="95250"/>
                </a:tc>
              </a:tr>
            </a:tbl>
          </a:graphicData>
        </a:graphic>
      </p:graphicFrame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A30F0B-0677-4DF5-A31D-7BC7F0A5D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Score: 50% temperature percentile, 30% inverse green percentile, 20% mapped-building percentile.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F078E7-39DB-4837-ABA1-FDCC50AB4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530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Thirteen sensitivity settings show no uniquely verified best intervention site.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7D00CE-AFDF-4F52-9D57-1A61DBFC6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*Means of date-level cell summaries. Rank ranges are scenario ranges, not confidence intervals.</a:t>
            </a:r>
          </a:p>
        </p:txBody>
      </p:sp>
    </p:spTree>
    <p:extLst>
      <p:ext uri="{BB962C8B-B14F-4D97-AF65-F5344CB8AC3E}">
        <p14:creationId xmlns:p14="http://schemas.microsoft.com/office/powerpoint/2010/main" val="66630698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9DE99D-061E-4696-8A26-3D34DDA8E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Reproducibility and reference checks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7C6872-DF06-40F1-811E-B79011B1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 package includes 35 hashed input files, source metadata and pinned Python 3.12 dependencies.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363FAE6-9593-42A1-907A-F2B52D58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Clean command-line regeneration passed. Normal Jupyter-kernel execution remains pending because this workspace blocks kernel sockets.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4A54564-4468-4A89-9FBB-A2A58CC58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Grass reference agreement: 24/25. Building green-rule agreement: 0/30. Coastal points retained in thermal support: 0/30.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EDE96B-ECDA-4338-9803-0D32EAA00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Contributed reference labels have conflicts. Human confirmation and independent thermal validation remain pending.</a:t>
            </a:r>
          </a:p>
        </p:txBody>
      </p:sp>
    </p:spTree>
    <p:extLst>
      <p:ext uri="{BB962C8B-B14F-4D97-AF65-F5344CB8AC3E}">
        <p14:creationId xmlns:p14="http://schemas.microsoft.com/office/powerpoint/2010/main" val="78117940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07C271-92BC-4B82-A38C-397D129B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Prototype scope and next validation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9D7435F-9B7C-4C07-9503-19FA7BEBB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The current prototype combines satellite indicators with contributed geometry and an upstream ML-derived land-cover product.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57AEA7-D99E-4340-9229-AFE40AEF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Our proposed VHR AI segmentation, paved-surface mapping and urban-expansion measurement remain future work.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E0A190-C2BF-48C9-8E2D-AE336A08F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Next: confirm the boundary and references, inspect candidate sites and assess suitable VHR data.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95DE752-8173-404A-8929-44196B9A5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We have not established health risk, causal cooling, current shade coverage or long-term warming.</a:t>
            </a:r>
          </a:p>
        </p:txBody>
      </p:sp>
    </p:spTree>
    <p:extLst>
      <p:ext uri="{BB962C8B-B14F-4D97-AF65-F5344CB8AC3E}">
        <p14:creationId xmlns:p14="http://schemas.microsoft.com/office/powerpoint/2010/main" val="77171796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CDC139-7C77-4FA6-971F-0593B8434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Team and review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7A46B5-4501-43D9-9782-C44E2CE8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Nasser Alhuri: registered team leader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D004258-0930-446D-9FAD-8CC529143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Abdulrahman Almohannadi, Mohammed Almarri, Majed Alkuwari and Ali Alkubaisi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0E1E32-21D6-4FCC-8727-DEE840C30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Actual contributions and other roles await team confirmation.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DFC2BE-4F34-4DF3-B409-2053192F8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Before submission: complete registrations, confirm judge access and deadline, then approve the final package.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B5B72A-1C3C-4729-960D-7DE2EA5F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Code and writing were developed with AI assistance and require team review and ownership.</a:t>
            </a:r>
          </a:p>
        </p:txBody>
      </p:sp>
    </p:spTree>
    <p:extLst>
      <p:ext uri="{BB962C8B-B14F-4D97-AF65-F5344CB8AC3E}">
        <p14:creationId xmlns:p14="http://schemas.microsoft.com/office/powerpoint/2010/main" val="119838631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6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4B621C-12B4-4EB5-B94E-3BD4F0D3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3300" b="1">
                <a:solidFill>
                  <a:srgbClr val="163D46"/>
                </a:solidFill>
                <a:latin typeface="Bitstream Charter"/>
                <a:ea typeface="Bitstream Charter"/>
                <a:cs typeface="Bitstream Charter"/>
              </a:rPr>
              <a:t>Data attribution and sources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A1C949-69D1-4A48-A009-8F4622CC5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716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Contains modified Copernicus Sentinel data (2026). Optical source: Element 84 Earth Search.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E8CF97-6AFB-4B16-87AA-A8E292BB6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384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Landsat imagery courtesy of USGS. Collection 2 Level-2 surface temperature, doi:10.5066/P9OGBGM6.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959313-7E8F-416C-BAC0-8319BDB7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ESA WorldCover 2021 v200, Zanaga et al. (2022). CC BY 4.0, doi:10.5281/zenodo.7254220.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3A03FB-EA49-42CC-8901-6D67B93F1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720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2400" b="0">
                <a:solidFill>
                  <a:srgbClr val="213846"/>
                </a:solidFill>
                <a:latin typeface="Bitstream Charter"/>
                <a:ea typeface="Bitstream Charter"/>
                <a:cs typeface="Bitstream Charter"/>
              </a:rPr>
              <a:t>© OpenStreetMap contributors. Building/reference geometry: ODbL 1.0. openstreetmap.org/copyright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920662-2B87-4373-B3A6-08B8EE0D0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defRPr>
            </a:pPr>
            <a:r>
              <a:rPr sz="1725" b="0">
                <a:solidFill>
                  <a:srgbClr val="526569"/>
                </a:solidFill>
                <a:latin typeface="Bitstream Charter"/>
                <a:ea typeface="Bitstream Charter"/>
                <a:cs typeface="Bitstream Charter"/>
              </a:rPr>
              <a:t>Full scene IDs, exact provenance, processing rules and limitations accompany the package. Original code: MIT.</a:t>
            </a:r>
          </a:p>
        </p:txBody>
      </p:sp>
    </p:spTree>
    <p:extLst>
      <p:ext uri="{BB962C8B-B14F-4D97-AF65-F5344CB8AC3E}">
        <p14:creationId xmlns:p14="http://schemas.microsoft.com/office/powerpoint/2010/main" val="12559957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2026-10-05T05:34:38.2930000Z</dcterms:created>
  <dcterms:modified xsi:type="dcterms:W3CDTF">2026-10-05T05:34:38.2930000Z</dcterms:modified>
</coreProperties>
</file>